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HSH LPG Sales &amp; Logistics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t>Django 6 + DRF Backend – Full Code Walkthrough</a:t>
            </a:r>
          </a:p>
          <a:p>
            <a:r>
              <a:t>Field-First • Transactionally Strict • Audit-Obsessed</a:t>
            </a:r>
          </a:p>
          <a:p>
            <a:r>
              <a:t>Singapore Field Operations – 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Presentation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dirty="0"/>
              <a:t>Project Overview &amp; Philosophy</a:t>
            </a:r>
          </a:p>
          <a:p>
            <a:r>
              <a:rPr dirty="0"/>
              <a:t>Technology Stack &amp; Setup</a:t>
            </a:r>
          </a:p>
          <a:p>
            <a:r>
              <a:rPr dirty="0"/>
              <a:t>Project Structure</a:t>
            </a:r>
          </a:p>
          <a:p>
            <a:r>
              <a:rPr dirty="0"/>
              <a:t>Core Configuration (settings.py)</a:t>
            </a:r>
          </a:p>
          <a:p>
            <a:r>
              <a:rPr dirty="0"/>
              <a:t>Data Models – The Foundation</a:t>
            </a:r>
          </a:p>
          <a:p>
            <a:r>
              <a:rPr dirty="0"/>
              <a:t>Services Layer – Business Logic Core</a:t>
            </a:r>
          </a:p>
          <a:p>
            <a:r>
              <a:rPr dirty="0" err="1"/>
              <a:t>ViewSets</a:t>
            </a:r>
            <a:r>
              <a:rPr dirty="0"/>
              <a:t> &amp; API Layer</a:t>
            </a:r>
          </a:p>
          <a:p>
            <a:r>
              <a:rPr dirty="0"/>
              <a:t>Middleware &amp; Logging</a:t>
            </a:r>
          </a:p>
          <a:p>
            <a:r>
              <a:rPr dirty="0"/>
              <a:t>Key Workflows &amp; Offline Sync</a:t>
            </a:r>
          </a:p>
          <a:p>
            <a:r>
              <a:rPr dirty="0"/>
              <a:t>Takeaways for 2-Month Sprint</a:t>
            </a:r>
          </a:p>
          <a:p>
            <a:r>
              <a:rPr dirty="0"/>
              <a:t>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Core Philosophy – Triangle of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sz="2800" dirty="0"/>
          </a:p>
          <a:p>
            <a:r>
              <a:rPr sz="2800" dirty="0"/>
              <a:t>Field-First Operation → offline queue + </a:t>
            </a:r>
            <a:r>
              <a:rPr sz="2800" dirty="0" err="1"/>
              <a:t>client_temp_id</a:t>
            </a:r>
            <a:r>
              <a:rPr sz="2800" dirty="0"/>
              <a:t> sync</a:t>
            </a:r>
            <a:endParaRPr lang="en-SG" sz="2800" dirty="0"/>
          </a:p>
          <a:p>
            <a:endParaRPr sz="2800" dirty="0"/>
          </a:p>
          <a:p>
            <a:r>
              <a:rPr sz="2800" dirty="0"/>
              <a:t>Transactional Integrity → @transaction.atomic + row locks</a:t>
            </a:r>
          </a:p>
          <a:p>
            <a:endParaRPr lang="en-SG" sz="2800" dirty="0"/>
          </a:p>
          <a:p>
            <a:r>
              <a:rPr sz="2800" dirty="0"/>
              <a:t>Zero-Trust Traceability → immutable audit log on every change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Structure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sz="2000" dirty="0" err="1">
                <a:latin typeface="Consolas"/>
              </a:rPr>
              <a:t>hsh_lpg_system</a:t>
            </a:r>
            <a:r>
              <a:rPr sz="2000" dirty="0">
                <a:latin typeface="Consolas"/>
              </a:rPr>
              <a:t>/</a:t>
            </a:r>
            <a:br>
              <a:rPr sz="6600" dirty="0"/>
            </a:br>
            <a:r>
              <a:rPr sz="2000" dirty="0">
                <a:latin typeface="Consolas"/>
              </a:rPr>
              <a:t>├── core/                  # settings &amp; </a:t>
            </a:r>
            <a:r>
              <a:rPr sz="2000" dirty="0" err="1">
                <a:latin typeface="Consolas"/>
              </a:rPr>
              <a:t>urls</a:t>
            </a:r>
            <a:br>
              <a:rPr sz="6600" dirty="0"/>
            </a:br>
            <a:r>
              <a:rPr sz="2000" dirty="0">
                <a:latin typeface="Consolas"/>
              </a:rPr>
              <a:t>├── accounts/              # User + auth</a:t>
            </a:r>
            <a:br>
              <a:rPr sz="6600" dirty="0"/>
            </a:br>
            <a:r>
              <a:rPr sz="2000" dirty="0">
                <a:latin typeface="Consolas"/>
              </a:rPr>
              <a:t>├── depots/                # SINGGAS, UNION…</a:t>
            </a:r>
            <a:br>
              <a:rPr sz="6600" dirty="0"/>
            </a:br>
            <a:r>
              <a:rPr sz="2000" dirty="0">
                <a:latin typeface="Consolas"/>
              </a:rPr>
              <a:t>├── equipment/             # CYL 12.7 kg…</a:t>
            </a:r>
            <a:br>
              <a:rPr sz="6600" dirty="0"/>
            </a:br>
            <a:r>
              <a:rPr sz="2000" dirty="0">
                <a:latin typeface="Consolas"/>
              </a:rPr>
              <a:t>├── inventory/             # Depot &amp; Customer stock</a:t>
            </a:r>
            <a:br>
              <a:rPr sz="6600" dirty="0"/>
            </a:br>
            <a:r>
              <a:rPr sz="2000" dirty="0">
                <a:latin typeface="Consolas"/>
              </a:rPr>
              <a:t>├── distribution/          # Logistics (Depot ↔ Truck)</a:t>
            </a:r>
            <a:br>
              <a:rPr sz="6600" dirty="0"/>
            </a:br>
            <a:r>
              <a:rPr sz="2000" dirty="0">
                <a:latin typeface="Consolas"/>
              </a:rPr>
              <a:t>├── customers/             # Customer master + rates</a:t>
            </a:r>
            <a:br>
              <a:rPr sz="6600" dirty="0"/>
            </a:br>
            <a:r>
              <a:rPr sz="2000" dirty="0">
                <a:latin typeface="Consolas"/>
              </a:rPr>
              <a:t>├── transactions/          # Sales &amp; billing</a:t>
            </a:r>
            <a:br>
              <a:rPr sz="6600" dirty="0"/>
            </a:br>
            <a:r>
              <a:rPr sz="2000" dirty="0">
                <a:latin typeface="Consolas"/>
              </a:rPr>
              <a:t>├── invoices/              # Invoice records (PDF Phase 2)</a:t>
            </a:r>
            <a:br>
              <a:rPr sz="6600" dirty="0"/>
            </a:br>
            <a:r>
              <a:rPr sz="2000" dirty="0">
                <a:latin typeface="Consolas"/>
              </a:rPr>
              <a:t>├── audit/                 # Immutable logs</a:t>
            </a:r>
            <a:br>
              <a:rPr sz="6600" dirty="0"/>
            </a:br>
            <a:r>
              <a:rPr sz="2000" dirty="0">
                <a:latin typeface="Consolas"/>
              </a:rPr>
              <a:t>├── middleware/            # Request logging</a:t>
            </a:r>
            <a:br>
              <a:rPr sz="6600" dirty="0"/>
            </a:br>
            <a:r>
              <a:rPr sz="2000" dirty="0">
                <a:latin typeface="Consolas"/>
              </a:rPr>
              <a:t>├── utils/                 # Helpers</a:t>
            </a:r>
            <a:br>
              <a:rPr sz="6600" dirty="0"/>
            </a:br>
            <a:r>
              <a:rPr sz="2000" dirty="0">
                <a:latin typeface="Consolas"/>
              </a:rPr>
              <a:t>├── manage.py / requirements.txt / .env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 (2026)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Python 3.12</a:t>
            </a:r>
          </a:p>
          <a:p>
            <a:r>
              <a:rPr dirty="0"/>
              <a:t>Django 6 (LTS)</a:t>
            </a:r>
          </a:p>
          <a:p>
            <a:r>
              <a:rPr dirty="0"/>
              <a:t>DRF 3.15+</a:t>
            </a:r>
          </a:p>
          <a:p>
            <a:r>
              <a:rPr dirty="0" err="1"/>
              <a:t>drf</a:t>
            </a:r>
            <a:r>
              <a:rPr dirty="0"/>
              <a:t>-spectacular (Swagger)</a:t>
            </a:r>
          </a:p>
          <a:p>
            <a:r>
              <a:rPr dirty="0"/>
              <a:t>Simple JWT (stateless auth)</a:t>
            </a:r>
          </a:p>
          <a:p>
            <a:r>
              <a:rPr dirty="0"/>
              <a:t>MySQL 8 (prod) / SQLite (dev)</a:t>
            </a:r>
          </a:p>
          <a:p>
            <a:r>
              <a:rPr dirty="0" err="1"/>
              <a:t>WeasyPrint</a:t>
            </a:r>
            <a:r>
              <a:rPr dirty="0"/>
              <a:t> (PDF) + SMTP (email)</a:t>
            </a:r>
          </a:p>
          <a:p>
            <a:r>
              <a:rPr dirty="0" err="1"/>
              <a:t>django</a:t>
            </a:r>
            <a:r>
              <a:rPr dirty="0"/>
              <a:t>-</a:t>
            </a:r>
            <a:r>
              <a:rPr dirty="0" err="1"/>
              <a:t>cors</a:t>
            </a:r>
            <a:r>
              <a:rPr dirty="0"/>
              <a:t>-headers (React frontend)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5-Minute Local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1. pip install -r requirements.txt</a:t>
            </a:r>
          </a:p>
          <a:p>
            <a:r>
              <a:rPr dirty="0"/>
              <a:t>2. Configure .env (SECRET_KEY, DB_ENGINE, EMAIL…)</a:t>
            </a:r>
          </a:p>
          <a:p>
            <a:r>
              <a:rPr dirty="0"/>
              <a:t>3. python manage.py </a:t>
            </a:r>
            <a:r>
              <a:rPr dirty="0" err="1"/>
              <a:t>makemigrations</a:t>
            </a:r>
            <a:r>
              <a:rPr dirty="0"/>
              <a:t> &amp;&amp; migrate</a:t>
            </a:r>
          </a:p>
          <a:p>
            <a:r>
              <a:rPr dirty="0"/>
              <a:t>4. python manage.py </a:t>
            </a:r>
            <a:r>
              <a:rPr dirty="0" err="1"/>
              <a:t>runserver</a:t>
            </a:r>
            <a:endParaRPr dirty="0"/>
          </a:p>
          <a:p>
            <a:r>
              <a:rPr dirty="0"/>
              <a:t>5. Swagger → http://127.0.0.1:8000/api/schema/swagger-ui/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Configuration – settings.py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AUTH_USER_MODEL = 'accounts.User'</a:t>
            </a:r>
          </a:p>
          <a:p>
            <a:r>
              <a:t>JWT: 8h access / 7d refresh</a:t>
            </a:r>
          </a:p>
          <a:p>
            <a:r>
              <a:t>Conditional MySQL / SQLite</a:t>
            </a:r>
          </a:p>
          <a:p>
            <a:r>
              <a:t>CORS + custom logging middleware</a:t>
            </a:r>
          </a:p>
          <a:p>
            <a:r>
              <a:t>drf-spectacular for auto Swagger docs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000" dirty="0"/>
              <a:t>Models – Logistics vs Sales Separation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Logistics (Distribution): No customer, updates DepotInventory</a:t>
            </a:r>
          </a:p>
          <a:p>
            <a:r>
              <a:t>Sales (Transaction): Customer-linked, triggers Invoice, updates CustomerSiteInventory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000" dirty="0"/>
              <a:t>Key Model: User (Custom Auth Base)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sz="1800" dirty="0">
                <a:latin typeface="Consolas"/>
              </a:rPr>
              <a:t>class User(</a:t>
            </a:r>
            <a:r>
              <a:rPr sz="1800" dirty="0" err="1">
                <a:latin typeface="Consolas"/>
              </a:rPr>
              <a:t>AbstractUser</a:t>
            </a:r>
            <a:r>
              <a:rPr sz="1800" dirty="0">
                <a:latin typeface="Consolas"/>
              </a:rPr>
              <a:t>):</a:t>
            </a:r>
            <a:br>
              <a:rPr sz="6000" dirty="0"/>
            </a:br>
            <a:r>
              <a:rPr sz="1800" dirty="0">
                <a:latin typeface="Consolas"/>
              </a:rPr>
              <a:t>    ROLE_CHOICES = (</a:t>
            </a:r>
            <a:endParaRPr lang="en-SG" sz="1800" dirty="0">
              <a:latin typeface="Consolas"/>
            </a:endParaRPr>
          </a:p>
          <a:p>
            <a:pPr marL="0" indent="0">
              <a:buNone/>
            </a:pPr>
            <a:r>
              <a:rPr lang="en-SG" sz="1800" dirty="0">
                <a:latin typeface="Consolas"/>
              </a:rPr>
              <a:t>		</a:t>
            </a:r>
            <a:r>
              <a:rPr sz="1800" dirty="0">
                <a:latin typeface="Consolas"/>
              </a:rPr>
              <a:t>('ADMIN', 'Admin'), </a:t>
            </a:r>
            <a:endParaRPr lang="en-SG" sz="1800" dirty="0">
              <a:latin typeface="Consolas"/>
            </a:endParaRPr>
          </a:p>
          <a:p>
            <a:pPr marL="0" indent="0">
              <a:buNone/>
            </a:pPr>
            <a:r>
              <a:rPr lang="en-SG" sz="1800" dirty="0">
                <a:latin typeface="Consolas"/>
              </a:rPr>
              <a:t>		</a:t>
            </a:r>
            <a:r>
              <a:rPr sz="1800" dirty="0">
                <a:latin typeface="Consolas"/>
              </a:rPr>
              <a:t>('DRIVER', 'Driver'), </a:t>
            </a:r>
            <a:endParaRPr lang="en-SG" sz="1800" dirty="0">
              <a:latin typeface="Consolas"/>
            </a:endParaRPr>
          </a:p>
          <a:p>
            <a:pPr marL="0" indent="0">
              <a:buNone/>
            </a:pPr>
            <a:r>
              <a:rPr lang="en-SG" sz="1800" dirty="0">
                <a:latin typeface="Consolas"/>
              </a:rPr>
              <a:t>		</a:t>
            </a:r>
            <a:r>
              <a:rPr sz="1800" dirty="0">
                <a:latin typeface="Consolas"/>
              </a:rPr>
              <a:t>('SUPERVISOR', 'Supervisor’)</a:t>
            </a:r>
            <a:endParaRPr lang="en-SG" sz="1800" dirty="0">
              <a:latin typeface="Consolas"/>
            </a:endParaRPr>
          </a:p>
          <a:p>
            <a:pPr marL="0" indent="0">
              <a:buNone/>
            </a:pPr>
            <a:r>
              <a:rPr lang="en-SG" sz="1800" dirty="0">
                <a:latin typeface="Consolas"/>
              </a:rPr>
              <a:t>	</a:t>
            </a:r>
            <a:r>
              <a:rPr sz="1800" dirty="0">
                <a:latin typeface="Consolas"/>
              </a:rPr>
              <a:t>)</a:t>
            </a:r>
            <a:endParaRPr lang="en-SG" sz="1800" dirty="0">
              <a:latin typeface="Consolas"/>
            </a:endParaRPr>
          </a:p>
          <a:p>
            <a:pPr marL="0" indent="0">
              <a:buNone/>
            </a:pPr>
            <a:br>
              <a:rPr sz="6000" dirty="0"/>
            </a:br>
            <a:r>
              <a:rPr sz="1800" dirty="0">
                <a:latin typeface="Consolas"/>
              </a:rPr>
              <a:t>    </a:t>
            </a:r>
            <a:r>
              <a:rPr sz="1800" dirty="0" err="1">
                <a:latin typeface="Consolas"/>
              </a:rPr>
              <a:t>employee_id</a:t>
            </a:r>
            <a:r>
              <a:rPr sz="1800" dirty="0">
                <a:latin typeface="Consolas"/>
              </a:rPr>
              <a:t> = </a:t>
            </a:r>
            <a:r>
              <a:rPr sz="1800" dirty="0" err="1">
                <a:latin typeface="Consolas"/>
              </a:rPr>
              <a:t>models.CharField</a:t>
            </a:r>
            <a:r>
              <a:rPr sz="1800" dirty="0">
                <a:latin typeface="Consolas"/>
              </a:rPr>
              <a:t>(</a:t>
            </a:r>
            <a:r>
              <a:rPr sz="1800" dirty="0" err="1">
                <a:latin typeface="Consolas"/>
              </a:rPr>
              <a:t>max_length</a:t>
            </a:r>
            <a:r>
              <a:rPr sz="1800" dirty="0">
                <a:latin typeface="Consolas"/>
              </a:rPr>
              <a:t>=50, unique=True)</a:t>
            </a:r>
            <a:br>
              <a:rPr sz="6000" dirty="0"/>
            </a:br>
            <a:r>
              <a:rPr sz="1800" dirty="0">
                <a:latin typeface="Consolas"/>
              </a:rPr>
              <a:t>    role = </a:t>
            </a:r>
            <a:r>
              <a:rPr sz="1800" dirty="0" err="1">
                <a:latin typeface="Consolas"/>
              </a:rPr>
              <a:t>models.CharField</a:t>
            </a:r>
            <a:r>
              <a:rPr sz="1800" dirty="0">
                <a:latin typeface="Consolas"/>
              </a:rPr>
              <a:t>(</a:t>
            </a:r>
            <a:r>
              <a:rPr sz="1800" dirty="0" err="1">
                <a:latin typeface="Consolas"/>
              </a:rPr>
              <a:t>max_length</a:t>
            </a:r>
            <a:r>
              <a:rPr sz="1800" dirty="0">
                <a:latin typeface="Consolas"/>
              </a:rPr>
              <a:t>=20, choices=ROLE_CHOICES)</a:t>
            </a:r>
            <a:br>
              <a:rPr sz="6000" dirty="0"/>
            </a:br>
            <a:r>
              <a:rPr sz="1800" dirty="0">
                <a:latin typeface="Consolas"/>
              </a:rPr>
              <a:t>    </a:t>
            </a:r>
            <a:r>
              <a:rPr sz="1800" dirty="0" err="1">
                <a:latin typeface="Consolas"/>
              </a:rPr>
              <a:t>vehicle_no</a:t>
            </a:r>
            <a:r>
              <a:rPr sz="1800" dirty="0">
                <a:latin typeface="Consolas"/>
              </a:rPr>
              <a:t> = </a:t>
            </a:r>
            <a:r>
              <a:rPr sz="1800" dirty="0" err="1">
                <a:latin typeface="Consolas"/>
              </a:rPr>
              <a:t>models.CharField</a:t>
            </a:r>
            <a:r>
              <a:rPr sz="1800" dirty="0">
                <a:latin typeface="Consolas"/>
              </a:rPr>
              <a:t>(</a:t>
            </a:r>
            <a:r>
              <a:rPr sz="1800" dirty="0" err="1">
                <a:latin typeface="Consolas"/>
              </a:rPr>
              <a:t>max_length</a:t>
            </a:r>
            <a:r>
              <a:rPr sz="1800" dirty="0">
                <a:latin typeface="Consolas"/>
              </a:rPr>
              <a:t>=20, blank=True)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Model: Depot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1371" y="2122714"/>
            <a:ext cx="8055429" cy="3233057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endParaRPr sz="6600" dirty="0"/>
          </a:p>
          <a:p>
            <a:pPr marL="0" indent="0">
              <a:buNone/>
            </a:pPr>
            <a:r>
              <a:rPr sz="2000" dirty="0">
                <a:latin typeface="Consolas"/>
              </a:rPr>
              <a:t>class Depot(</a:t>
            </a:r>
            <a:r>
              <a:rPr sz="2000" dirty="0" err="1">
                <a:latin typeface="Consolas"/>
              </a:rPr>
              <a:t>models.Model</a:t>
            </a:r>
            <a:r>
              <a:rPr sz="2000" dirty="0">
                <a:latin typeface="Consolas"/>
              </a:rPr>
              <a:t>):</a:t>
            </a:r>
            <a:endParaRPr lang="en-SG" sz="2000" dirty="0">
              <a:latin typeface="Consolas"/>
            </a:endParaRPr>
          </a:p>
          <a:p>
            <a:pPr marL="0" indent="0">
              <a:buNone/>
            </a:pPr>
            <a:r>
              <a:rPr lang="en-SG" sz="2000" dirty="0">
                <a:latin typeface="Consolas"/>
              </a:rPr>
              <a:t>	# SINGGAS, UNION, HSH KB</a:t>
            </a:r>
            <a:br>
              <a:rPr sz="6600" dirty="0"/>
            </a:br>
            <a:r>
              <a:rPr sz="2000" dirty="0">
                <a:latin typeface="Consolas"/>
              </a:rPr>
              <a:t>   name = </a:t>
            </a:r>
            <a:r>
              <a:rPr sz="2000" dirty="0" err="1">
                <a:latin typeface="Consolas"/>
              </a:rPr>
              <a:t>models.CharField</a:t>
            </a:r>
            <a:r>
              <a:rPr sz="2000" dirty="0">
                <a:latin typeface="Consolas"/>
              </a:rPr>
              <a:t>(</a:t>
            </a:r>
            <a:r>
              <a:rPr sz="2000" dirty="0" err="1">
                <a:latin typeface="Consolas"/>
              </a:rPr>
              <a:t>max_length</a:t>
            </a:r>
            <a:r>
              <a:rPr sz="2000" dirty="0">
                <a:latin typeface="Consolas"/>
              </a:rPr>
              <a:t>=100, unique=True)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Model: Equipment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31074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sz="2400" dirty="0">
                <a:latin typeface="Consolas"/>
              </a:rPr>
              <a:t>class Equipment(</a:t>
            </a:r>
            <a:r>
              <a:rPr sz="2400" dirty="0" err="1">
                <a:latin typeface="Consolas"/>
              </a:rPr>
              <a:t>models.Model</a:t>
            </a:r>
            <a:r>
              <a:rPr sz="2400" dirty="0">
                <a:latin typeface="Consolas"/>
              </a:rPr>
              <a:t>):</a:t>
            </a:r>
            <a:endParaRPr lang="en-SG" sz="700" dirty="0">
              <a:latin typeface="Consolas"/>
            </a:endParaRPr>
          </a:p>
          <a:p>
            <a:pPr marL="0" indent="0">
              <a:buNone/>
            </a:pPr>
            <a:r>
              <a:rPr lang="en-SG" sz="2000" dirty="0">
                <a:latin typeface="Consolas"/>
              </a:rPr>
              <a:t>	# CYL 12.7 kgs, CYL 50 kg (POL)</a:t>
            </a:r>
            <a:br>
              <a:rPr sz="7200" dirty="0"/>
            </a:br>
            <a:r>
              <a:rPr sz="2400" dirty="0">
                <a:latin typeface="Consolas"/>
              </a:rPr>
              <a:t>   name = </a:t>
            </a:r>
            <a:r>
              <a:rPr sz="2400" dirty="0" err="1">
                <a:latin typeface="Consolas"/>
              </a:rPr>
              <a:t>models.CharField</a:t>
            </a:r>
            <a:r>
              <a:rPr sz="2400" dirty="0">
                <a:latin typeface="Consolas"/>
              </a:rPr>
              <a:t>(</a:t>
            </a:r>
            <a:r>
              <a:rPr sz="2400" dirty="0" err="1">
                <a:latin typeface="Consolas"/>
              </a:rPr>
              <a:t>max_length</a:t>
            </a:r>
            <a:r>
              <a:rPr sz="2400" dirty="0">
                <a:latin typeface="Consolas"/>
              </a:rPr>
              <a:t>=100, unique=True)</a:t>
            </a:r>
            <a:endParaRPr lang="en-SG" sz="7200" dirty="0"/>
          </a:p>
          <a:p>
            <a:pPr marL="0" indent="0">
              <a:buNone/>
            </a:pPr>
            <a:r>
              <a:rPr lang="en-SG" sz="2400" dirty="0">
                <a:latin typeface="Consolas"/>
              </a:rPr>
              <a:t>	# Cylinder, Meter, Regulator</a:t>
            </a:r>
            <a:r>
              <a:rPr sz="2400" dirty="0">
                <a:latin typeface="Consolas"/>
              </a:rPr>
              <a:t>   </a:t>
            </a:r>
            <a:endParaRPr lang="en-SG" sz="2400" dirty="0">
              <a:latin typeface="Consolas"/>
            </a:endParaRPr>
          </a:p>
          <a:p>
            <a:pPr marL="0" indent="0">
              <a:buNone/>
            </a:pPr>
            <a:r>
              <a:rPr lang="en-SG" sz="2400" dirty="0">
                <a:latin typeface="Consolas"/>
              </a:rPr>
              <a:t>	</a:t>
            </a:r>
            <a:r>
              <a:rPr sz="2400" dirty="0">
                <a:latin typeface="Consolas"/>
              </a:rPr>
              <a:t>category = </a:t>
            </a:r>
            <a:r>
              <a:rPr sz="2400" dirty="0" err="1">
                <a:latin typeface="Consolas"/>
              </a:rPr>
              <a:t>models.CharField</a:t>
            </a:r>
            <a:r>
              <a:rPr sz="2400" dirty="0">
                <a:latin typeface="Consolas"/>
              </a:rPr>
              <a:t>(</a:t>
            </a:r>
            <a:r>
              <a:rPr sz="2400" dirty="0" err="1">
                <a:latin typeface="Consolas"/>
              </a:rPr>
              <a:t>max_length</a:t>
            </a:r>
            <a:r>
              <a:rPr sz="2400" dirty="0">
                <a:latin typeface="Consolas"/>
              </a:rPr>
              <a:t>=50)           </a:t>
            </a:r>
            <a:br>
              <a:rPr sz="7200" dirty="0"/>
            </a:br>
            <a:r>
              <a:rPr sz="2400" dirty="0">
                <a:latin typeface="Consolas"/>
              </a:rPr>
              <a:t>   </a:t>
            </a:r>
            <a:r>
              <a:rPr sz="2400" dirty="0" err="1">
                <a:latin typeface="Consolas"/>
              </a:rPr>
              <a:t>default_rate</a:t>
            </a:r>
            <a:r>
              <a:rPr sz="2400" dirty="0">
                <a:latin typeface="Consolas"/>
              </a:rPr>
              <a:t> = </a:t>
            </a:r>
            <a:r>
              <a:rPr sz="2400" dirty="0" err="1">
                <a:latin typeface="Consolas"/>
              </a:rPr>
              <a:t>models.DecimalField</a:t>
            </a:r>
            <a:r>
              <a:rPr sz="2400" dirty="0">
                <a:latin typeface="Consolas"/>
              </a:rPr>
              <a:t>(</a:t>
            </a:r>
            <a:endParaRPr lang="en-SG" sz="2400" dirty="0">
              <a:latin typeface="Consolas"/>
            </a:endParaRPr>
          </a:p>
          <a:p>
            <a:pPr marL="0" indent="0">
              <a:buNone/>
            </a:pPr>
            <a:r>
              <a:rPr lang="en-SG" sz="2400" dirty="0">
                <a:latin typeface="Consolas"/>
              </a:rPr>
              <a:t>		</a:t>
            </a:r>
            <a:r>
              <a:rPr sz="2400" dirty="0" err="1">
                <a:latin typeface="Consolas"/>
              </a:rPr>
              <a:t>max_digits</a:t>
            </a:r>
            <a:r>
              <a:rPr sz="2400" dirty="0">
                <a:latin typeface="Consolas"/>
              </a:rPr>
              <a:t>=10, </a:t>
            </a:r>
            <a:endParaRPr lang="en-SG" sz="2400" dirty="0">
              <a:latin typeface="Consolas"/>
            </a:endParaRPr>
          </a:p>
          <a:p>
            <a:pPr marL="0" indent="0">
              <a:buNone/>
            </a:pPr>
            <a:r>
              <a:rPr lang="en-SG" sz="2400" dirty="0">
                <a:latin typeface="Consolas"/>
              </a:rPr>
              <a:t>		</a:t>
            </a:r>
            <a:r>
              <a:rPr sz="2400" dirty="0" err="1">
                <a:latin typeface="Consolas"/>
              </a:rPr>
              <a:t>decimal_places</a:t>
            </a:r>
            <a:r>
              <a:rPr sz="2400" dirty="0">
                <a:latin typeface="Consolas"/>
              </a:rPr>
              <a:t>=2, </a:t>
            </a:r>
            <a:endParaRPr lang="en-SG" sz="2400" dirty="0">
              <a:latin typeface="Consolas"/>
            </a:endParaRPr>
          </a:p>
          <a:p>
            <a:pPr marL="0" indent="0">
              <a:buNone/>
            </a:pPr>
            <a:r>
              <a:rPr lang="en-SG" sz="2400" dirty="0">
                <a:latin typeface="Consolas"/>
              </a:rPr>
              <a:t>		</a:t>
            </a:r>
            <a:r>
              <a:rPr sz="2400" dirty="0">
                <a:latin typeface="Consolas"/>
              </a:rPr>
              <a:t>default=0</a:t>
            </a:r>
            <a:endParaRPr lang="en-SG" sz="2400" dirty="0">
              <a:latin typeface="Consolas"/>
            </a:endParaRPr>
          </a:p>
          <a:p>
            <a:pPr marL="0" indent="0">
              <a:buNone/>
            </a:pPr>
            <a:r>
              <a:rPr lang="en-SG" sz="2400" dirty="0">
                <a:latin typeface="Consolas"/>
              </a:rPr>
              <a:t>	</a:t>
            </a:r>
            <a:r>
              <a:rPr sz="2400" dirty="0">
                <a:latin typeface="Consolas"/>
              </a:rPr>
              <a:t>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4170"/>
            <a:ext cx="8229600" cy="1143000"/>
          </a:xfrm>
        </p:spPr>
        <p:txBody>
          <a:bodyPr/>
          <a:lstStyle/>
          <a:p>
            <a:r>
              <a:rPr dirty="0"/>
              <a:t>Inventory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3142" y="1328056"/>
            <a:ext cx="8033658" cy="5116288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sz="1800" dirty="0">
                <a:latin typeface="Consolas"/>
              </a:rPr>
              <a:t>class </a:t>
            </a:r>
            <a:r>
              <a:rPr sz="1800" dirty="0" err="1">
                <a:latin typeface="Consolas"/>
              </a:rPr>
              <a:t>DepotInventory</a:t>
            </a:r>
            <a:r>
              <a:rPr sz="1800" dirty="0">
                <a:latin typeface="Consolas"/>
              </a:rPr>
              <a:t>(</a:t>
            </a:r>
            <a:r>
              <a:rPr sz="1800" dirty="0" err="1">
                <a:latin typeface="Consolas"/>
              </a:rPr>
              <a:t>models.Model</a:t>
            </a:r>
            <a:r>
              <a:rPr sz="1800" dirty="0">
                <a:latin typeface="Consolas"/>
              </a:rPr>
              <a:t>):</a:t>
            </a:r>
            <a:br>
              <a:rPr sz="6000" dirty="0"/>
            </a:br>
            <a:r>
              <a:rPr sz="1800" dirty="0">
                <a:latin typeface="Consolas"/>
              </a:rPr>
              <a:t>    depot = </a:t>
            </a:r>
            <a:r>
              <a:rPr sz="1800" dirty="0" err="1">
                <a:latin typeface="Consolas"/>
              </a:rPr>
              <a:t>models.ForeignKey</a:t>
            </a:r>
            <a:r>
              <a:rPr sz="1800" dirty="0">
                <a:latin typeface="Consolas"/>
              </a:rPr>
              <a:t>('</a:t>
            </a:r>
            <a:r>
              <a:rPr sz="1800" dirty="0" err="1">
                <a:latin typeface="Consolas"/>
              </a:rPr>
              <a:t>depots.Depot</a:t>
            </a:r>
            <a:r>
              <a:rPr sz="1800" dirty="0">
                <a:latin typeface="Consolas"/>
              </a:rPr>
              <a:t>’, </a:t>
            </a:r>
            <a:r>
              <a:rPr lang="en-SG" sz="1800" dirty="0">
                <a:latin typeface="Consolas"/>
              </a:rPr>
              <a:t>				 		</a:t>
            </a:r>
          </a:p>
          <a:p>
            <a:pPr marL="0" indent="0">
              <a:buNone/>
            </a:pPr>
            <a:r>
              <a:rPr lang="en-SG" sz="1800" dirty="0">
                <a:latin typeface="Consolas"/>
              </a:rPr>
              <a:t>		</a:t>
            </a:r>
            <a:r>
              <a:rPr sz="1800" dirty="0" err="1">
                <a:latin typeface="Consolas"/>
              </a:rPr>
              <a:t>on_delete</a:t>
            </a:r>
            <a:r>
              <a:rPr sz="1800" dirty="0">
                <a:latin typeface="Consolas"/>
              </a:rPr>
              <a:t>=</a:t>
            </a:r>
            <a:r>
              <a:rPr sz="1800" dirty="0" err="1">
                <a:latin typeface="Consolas"/>
              </a:rPr>
              <a:t>models.CASCADE</a:t>
            </a:r>
            <a:r>
              <a:rPr sz="1800" dirty="0">
                <a:latin typeface="Consolas"/>
              </a:rPr>
              <a:t>)</a:t>
            </a:r>
            <a:br>
              <a:rPr sz="6000" dirty="0"/>
            </a:br>
            <a:r>
              <a:rPr sz="1800" dirty="0">
                <a:latin typeface="Consolas"/>
              </a:rPr>
              <a:t>    equipment = </a:t>
            </a:r>
            <a:r>
              <a:rPr sz="1800" dirty="0" err="1">
                <a:latin typeface="Consolas"/>
              </a:rPr>
              <a:t>models.ForeignKey</a:t>
            </a:r>
            <a:r>
              <a:rPr sz="1800" dirty="0">
                <a:latin typeface="Consolas"/>
              </a:rPr>
              <a:t>(</a:t>
            </a:r>
            <a:endParaRPr lang="en-SG" sz="1800" dirty="0">
              <a:latin typeface="Consolas"/>
            </a:endParaRPr>
          </a:p>
          <a:p>
            <a:pPr marL="0" indent="0">
              <a:buNone/>
            </a:pPr>
            <a:r>
              <a:rPr lang="en-SG" sz="1800" dirty="0">
                <a:latin typeface="Consolas"/>
              </a:rPr>
              <a:t>		</a:t>
            </a:r>
            <a:r>
              <a:rPr sz="1800" dirty="0">
                <a:latin typeface="Consolas"/>
              </a:rPr>
              <a:t>'</a:t>
            </a:r>
            <a:r>
              <a:rPr sz="1800" dirty="0" err="1">
                <a:latin typeface="Consolas"/>
              </a:rPr>
              <a:t>equipment.Equipment</a:t>
            </a:r>
            <a:r>
              <a:rPr sz="1800" dirty="0">
                <a:latin typeface="Consolas"/>
              </a:rPr>
              <a:t>’, </a:t>
            </a:r>
            <a:endParaRPr lang="en-SG" sz="1800" dirty="0">
              <a:latin typeface="Consolas"/>
            </a:endParaRPr>
          </a:p>
          <a:p>
            <a:pPr marL="0" indent="0">
              <a:buNone/>
            </a:pPr>
            <a:r>
              <a:rPr lang="en-SG" sz="1800" dirty="0">
                <a:latin typeface="Consolas"/>
              </a:rPr>
              <a:t>		</a:t>
            </a:r>
            <a:r>
              <a:rPr sz="1800" dirty="0" err="1">
                <a:latin typeface="Consolas"/>
              </a:rPr>
              <a:t>on_delete</a:t>
            </a:r>
            <a:r>
              <a:rPr sz="1800" dirty="0">
                <a:latin typeface="Consolas"/>
              </a:rPr>
              <a:t>=</a:t>
            </a:r>
            <a:r>
              <a:rPr sz="1800" dirty="0" err="1">
                <a:latin typeface="Consolas"/>
              </a:rPr>
              <a:t>models.CASCADE</a:t>
            </a:r>
            <a:endParaRPr lang="en-SG" sz="1800" dirty="0">
              <a:latin typeface="Consolas"/>
            </a:endParaRPr>
          </a:p>
          <a:p>
            <a:pPr marL="0" indent="0">
              <a:buNone/>
            </a:pPr>
            <a:r>
              <a:rPr lang="en-SG" sz="1800" dirty="0">
                <a:latin typeface="Consolas"/>
              </a:rPr>
              <a:t>		</a:t>
            </a:r>
            <a:r>
              <a:rPr sz="1800" dirty="0">
                <a:latin typeface="Consolas"/>
              </a:rPr>
              <a:t>)</a:t>
            </a:r>
            <a:br>
              <a:rPr sz="6000" dirty="0"/>
            </a:br>
            <a:r>
              <a:rPr sz="1800" dirty="0">
                <a:latin typeface="Consolas"/>
              </a:rPr>
              <a:t>    quantity = </a:t>
            </a:r>
            <a:r>
              <a:rPr sz="1800" dirty="0" err="1">
                <a:latin typeface="Consolas"/>
              </a:rPr>
              <a:t>models.IntegerField</a:t>
            </a:r>
            <a:r>
              <a:rPr sz="1800" dirty="0">
                <a:latin typeface="Consolas"/>
              </a:rPr>
              <a:t>(default=0)</a:t>
            </a:r>
            <a:br>
              <a:rPr sz="6000" dirty="0"/>
            </a:br>
            <a:br>
              <a:rPr sz="6000" dirty="0"/>
            </a:br>
            <a:r>
              <a:rPr sz="1800" dirty="0">
                <a:latin typeface="Consolas"/>
              </a:rPr>
              <a:t>class </a:t>
            </a:r>
            <a:r>
              <a:rPr sz="1800" dirty="0" err="1">
                <a:latin typeface="Consolas"/>
              </a:rPr>
              <a:t>CustomerSiteInventory</a:t>
            </a:r>
            <a:r>
              <a:rPr sz="1800" dirty="0">
                <a:latin typeface="Consolas"/>
              </a:rPr>
              <a:t>(</a:t>
            </a:r>
            <a:r>
              <a:rPr sz="1800" dirty="0" err="1">
                <a:latin typeface="Consolas"/>
              </a:rPr>
              <a:t>models.Model</a:t>
            </a:r>
            <a:r>
              <a:rPr sz="1800" dirty="0">
                <a:latin typeface="Consolas"/>
              </a:rPr>
              <a:t>):</a:t>
            </a:r>
            <a:br>
              <a:rPr sz="6000" dirty="0"/>
            </a:br>
            <a:r>
              <a:rPr sz="1800" dirty="0">
                <a:latin typeface="Consolas"/>
              </a:rPr>
              <a:t>    customer = </a:t>
            </a:r>
            <a:r>
              <a:rPr sz="1800" dirty="0" err="1">
                <a:latin typeface="Consolas"/>
              </a:rPr>
              <a:t>models.ForeignKey</a:t>
            </a:r>
            <a:r>
              <a:rPr sz="1800" dirty="0">
                <a:latin typeface="Consolas"/>
              </a:rPr>
              <a:t>('</a:t>
            </a:r>
            <a:r>
              <a:rPr sz="1800" dirty="0" err="1">
                <a:latin typeface="Consolas"/>
              </a:rPr>
              <a:t>customers.Customer</a:t>
            </a:r>
            <a:r>
              <a:rPr sz="1800" dirty="0">
                <a:latin typeface="Consolas"/>
              </a:rPr>
              <a:t>’, </a:t>
            </a:r>
            <a:endParaRPr lang="en-SG" sz="1800" dirty="0">
              <a:latin typeface="Consolas"/>
            </a:endParaRPr>
          </a:p>
          <a:p>
            <a:pPr marL="0" indent="0">
              <a:buNone/>
            </a:pPr>
            <a:r>
              <a:rPr lang="en-SG" sz="1800" dirty="0">
                <a:latin typeface="Consolas"/>
              </a:rPr>
              <a:t>		</a:t>
            </a:r>
            <a:r>
              <a:rPr sz="1800" dirty="0" err="1">
                <a:latin typeface="Consolas"/>
              </a:rPr>
              <a:t>on_delete</a:t>
            </a:r>
            <a:r>
              <a:rPr sz="1800" dirty="0">
                <a:latin typeface="Consolas"/>
              </a:rPr>
              <a:t>=</a:t>
            </a:r>
            <a:r>
              <a:rPr sz="1800" dirty="0" err="1">
                <a:latin typeface="Consolas"/>
              </a:rPr>
              <a:t>models.CASCADE</a:t>
            </a:r>
            <a:endParaRPr lang="en-SG" sz="1800" dirty="0">
              <a:latin typeface="Consolas"/>
            </a:endParaRPr>
          </a:p>
          <a:p>
            <a:pPr marL="0" indent="0">
              <a:buNone/>
            </a:pPr>
            <a:r>
              <a:rPr lang="en-SG" sz="1800" dirty="0">
                <a:latin typeface="Consolas"/>
              </a:rPr>
              <a:t>	</a:t>
            </a:r>
            <a:r>
              <a:rPr sz="1800" dirty="0">
                <a:latin typeface="Consolas"/>
              </a:rPr>
              <a:t>)</a:t>
            </a:r>
            <a:br>
              <a:rPr sz="6000" dirty="0"/>
            </a:br>
            <a:r>
              <a:rPr sz="1800" dirty="0">
                <a:latin typeface="Consolas"/>
              </a:rPr>
              <a:t>    equipment = </a:t>
            </a:r>
            <a:r>
              <a:rPr sz="1800" dirty="0" err="1">
                <a:latin typeface="Consolas"/>
              </a:rPr>
              <a:t>models.ForeignKey</a:t>
            </a:r>
            <a:r>
              <a:rPr sz="1800" dirty="0">
                <a:latin typeface="Consolas"/>
              </a:rPr>
              <a:t>('</a:t>
            </a:r>
            <a:r>
              <a:rPr sz="1800" dirty="0" err="1">
                <a:latin typeface="Consolas"/>
              </a:rPr>
              <a:t>equipment.Equipment</a:t>
            </a:r>
            <a:r>
              <a:rPr sz="1800" dirty="0">
                <a:latin typeface="Consolas"/>
              </a:rPr>
              <a:t>’, </a:t>
            </a:r>
            <a:endParaRPr lang="en-SG" sz="1800" dirty="0">
              <a:latin typeface="Consolas"/>
            </a:endParaRPr>
          </a:p>
          <a:p>
            <a:pPr marL="0" indent="0">
              <a:buNone/>
            </a:pPr>
            <a:r>
              <a:rPr lang="en-SG" sz="1800" dirty="0">
                <a:latin typeface="Consolas"/>
              </a:rPr>
              <a:t>		</a:t>
            </a:r>
            <a:r>
              <a:rPr sz="1800" dirty="0" err="1">
                <a:latin typeface="Consolas"/>
              </a:rPr>
              <a:t>on_delete</a:t>
            </a:r>
            <a:r>
              <a:rPr sz="1800" dirty="0">
                <a:latin typeface="Consolas"/>
              </a:rPr>
              <a:t>=</a:t>
            </a:r>
            <a:r>
              <a:rPr sz="1800" dirty="0" err="1">
                <a:latin typeface="Consolas"/>
              </a:rPr>
              <a:t>models.CASCADE</a:t>
            </a:r>
            <a:endParaRPr lang="en-SG" sz="1800" dirty="0">
              <a:latin typeface="Consolas"/>
            </a:endParaRPr>
          </a:p>
          <a:p>
            <a:pPr marL="0" indent="0">
              <a:buNone/>
            </a:pPr>
            <a:r>
              <a:rPr lang="en-SG" sz="1800" dirty="0">
                <a:latin typeface="Consolas"/>
              </a:rPr>
              <a:t>	</a:t>
            </a:r>
            <a:r>
              <a:rPr sz="1800" dirty="0">
                <a:latin typeface="Consolas"/>
              </a:rPr>
              <a:t>)</a:t>
            </a:r>
            <a:br>
              <a:rPr sz="6000" dirty="0"/>
            </a:br>
            <a:r>
              <a:rPr sz="1800" dirty="0">
                <a:latin typeface="Consolas"/>
              </a:rPr>
              <a:t>    quantity = </a:t>
            </a:r>
            <a:r>
              <a:rPr sz="1800" dirty="0" err="1">
                <a:latin typeface="Consolas"/>
              </a:rPr>
              <a:t>models.IntegerField</a:t>
            </a:r>
            <a:r>
              <a:rPr sz="1800" dirty="0">
                <a:latin typeface="Consolas"/>
              </a:rPr>
              <a:t>(default=0)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Distribution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3028" y="1894114"/>
            <a:ext cx="8577944" cy="3309257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sz="1200" dirty="0">
                <a:latin typeface="Consolas"/>
              </a:rPr>
              <a:t>class Distribution(</a:t>
            </a:r>
            <a:r>
              <a:rPr sz="1200" dirty="0" err="1">
                <a:latin typeface="Consolas"/>
              </a:rPr>
              <a:t>models.Model</a:t>
            </a:r>
            <a:r>
              <a:rPr sz="1200" dirty="0">
                <a:latin typeface="Consolas"/>
              </a:rPr>
              <a:t>):</a:t>
            </a:r>
            <a:br>
              <a:rPr sz="4400" dirty="0"/>
            </a:br>
            <a:r>
              <a:rPr sz="1200" dirty="0">
                <a:latin typeface="Consolas"/>
              </a:rPr>
              <a:t>    user = </a:t>
            </a:r>
            <a:r>
              <a:rPr sz="1200" dirty="0" err="1">
                <a:latin typeface="Consolas"/>
              </a:rPr>
              <a:t>models.ForeignKey</a:t>
            </a:r>
            <a:r>
              <a:rPr sz="1200" dirty="0">
                <a:latin typeface="Consolas"/>
              </a:rPr>
              <a:t>('</a:t>
            </a:r>
            <a:r>
              <a:rPr sz="1200" dirty="0" err="1">
                <a:latin typeface="Consolas"/>
              </a:rPr>
              <a:t>accounts.User</a:t>
            </a:r>
            <a:r>
              <a:rPr sz="1200" dirty="0">
                <a:latin typeface="Consolas"/>
              </a:rPr>
              <a:t>', </a:t>
            </a:r>
            <a:r>
              <a:rPr sz="1200" dirty="0" err="1">
                <a:latin typeface="Consolas"/>
              </a:rPr>
              <a:t>on_delete</a:t>
            </a:r>
            <a:r>
              <a:rPr sz="1200" dirty="0">
                <a:latin typeface="Consolas"/>
              </a:rPr>
              <a:t>=</a:t>
            </a:r>
            <a:r>
              <a:rPr sz="1200" dirty="0" err="1">
                <a:latin typeface="Consolas"/>
              </a:rPr>
              <a:t>models.SET_NULL</a:t>
            </a:r>
            <a:r>
              <a:rPr sz="1200" dirty="0">
                <a:latin typeface="Consolas"/>
              </a:rPr>
              <a:t>, null=True)</a:t>
            </a:r>
            <a:br>
              <a:rPr sz="4400" dirty="0"/>
            </a:br>
            <a:r>
              <a:rPr sz="1200" dirty="0">
                <a:latin typeface="Consolas"/>
              </a:rPr>
              <a:t>    </a:t>
            </a:r>
            <a:r>
              <a:rPr sz="1200" dirty="0" err="1">
                <a:latin typeface="Consolas"/>
              </a:rPr>
              <a:t>distribution_number</a:t>
            </a:r>
            <a:r>
              <a:rPr sz="1200" dirty="0">
                <a:latin typeface="Consolas"/>
              </a:rPr>
              <a:t> = </a:t>
            </a:r>
            <a:r>
              <a:rPr sz="1200" dirty="0" err="1">
                <a:latin typeface="Consolas"/>
              </a:rPr>
              <a:t>models.CharField</a:t>
            </a:r>
            <a:r>
              <a:rPr sz="1200" dirty="0">
                <a:latin typeface="Consolas"/>
              </a:rPr>
              <a:t>(</a:t>
            </a:r>
            <a:r>
              <a:rPr sz="1200" dirty="0" err="1">
                <a:latin typeface="Consolas"/>
              </a:rPr>
              <a:t>max_length</a:t>
            </a:r>
            <a:r>
              <a:rPr sz="1200" dirty="0">
                <a:latin typeface="Consolas"/>
              </a:rPr>
              <a:t>=50, unique=True)</a:t>
            </a:r>
            <a:br>
              <a:rPr sz="4400" dirty="0"/>
            </a:br>
            <a:r>
              <a:rPr sz="1200" dirty="0">
                <a:latin typeface="Consolas"/>
              </a:rPr>
              <a:t>    status = </a:t>
            </a:r>
            <a:r>
              <a:rPr sz="1200" dirty="0" err="1">
                <a:latin typeface="Consolas"/>
              </a:rPr>
              <a:t>models.CharField</a:t>
            </a:r>
            <a:r>
              <a:rPr sz="1200" dirty="0">
                <a:latin typeface="Consolas"/>
              </a:rPr>
              <a:t>(</a:t>
            </a:r>
            <a:r>
              <a:rPr sz="1200" dirty="0" err="1">
                <a:latin typeface="Consolas"/>
              </a:rPr>
              <a:t>max_length</a:t>
            </a:r>
            <a:r>
              <a:rPr sz="1200" dirty="0">
                <a:latin typeface="Consolas"/>
              </a:rPr>
              <a:t>=20, default='Pending')  # Pending / Confirmed</a:t>
            </a:r>
            <a:br>
              <a:rPr sz="4400" dirty="0"/>
            </a:br>
            <a:r>
              <a:rPr sz="1200" dirty="0">
                <a:latin typeface="Consolas"/>
              </a:rPr>
              <a:t>    </a:t>
            </a:r>
            <a:r>
              <a:rPr sz="1200" dirty="0" err="1">
                <a:latin typeface="Consolas"/>
              </a:rPr>
              <a:t>confirmed_at</a:t>
            </a:r>
            <a:r>
              <a:rPr sz="1200" dirty="0">
                <a:latin typeface="Consolas"/>
              </a:rPr>
              <a:t> = </a:t>
            </a:r>
            <a:r>
              <a:rPr sz="1200" dirty="0" err="1">
                <a:latin typeface="Consolas"/>
              </a:rPr>
              <a:t>models.DateTimeField</a:t>
            </a:r>
            <a:r>
              <a:rPr sz="1200" dirty="0">
                <a:latin typeface="Consolas"/>
              </a:rPr>
              <a:t>(null=True, blank=True)</a:t>
            </a:r>
            <a:br>
              <a:rPr sz="4400" dirty="0"/>
            </a:br>
            <a:r>
              <a:rPr sz="1200" dirty="0">
                <a:latin typeface="Consolas"/>
              </a:rPr>
              <a:t>    </a:t>
            </a:r>
            <a:r>
              <a:rPr sz="1200" dirty="0" err="1">
                <a:latin typeface="Consolas"/>
              </a:rPr>
              <a:t>created_at</a:t>
            </a:r>
            <a:r>
              <a:rPr sz="1200" dirty="0">
                <a:latin typeface="Consolas"/>
              </a:rPr>
              <a:t> = </a:t>
            </a:r>
            <a:r>
              <a:rPr sz="1200" dirty="0" err="1">
                <a:latin typeface="Consolas"/>
              </a:rPr>
              <a:t>models.DateTimeField</a:t>
            </a:r>
            <a:r>
              <a:rPr sz="1200" dirty="0">
                <a:latin typeface="Consolas"/>
              </a:rPr>
              <a:t>(</a:t>
            </a:r>
            <a:r>
              <a:rPr sz="1200" dirty="0" err="1">
                <a:latin typeface="Consolas"/>
              </a:rPr>
              <a:t>auto_now_add</a:t>
            </a:r>
            <a:r>
              <a:rPr sz="1200" dirty="0">
                <a:latin typeface="Consolas"/>
              </a:rPr>
              <a:t>=True)</a:t>
            </a:r>
            <a:br>
              <a:rPr sz="4400" dirty="0"/>
            </a:br>
            <a:br>
              <a:rPr sz="4400" dirty="0"/>
            </a:br>
            <a:r>
              <a:rPr sz="1200" dirty="0">
                <a:latin typeface="Consolas"/>
              </a:rPr>
              <a:t>class </a:t>
            </a:r>
            <a:r>
              <a:rPr sz="1200" dirty="0" err="1">
                <a:latin typeface="Consolas"/>
              </a:rPr>
              <a:t>DistributionItem</a:t>
            </a:r>
            <a:r>
              <a:rPr sz="1200" dirty="0">
                <a:latin typeface="Consolas"/>
              </a:rPr>
              <a:t>(</a:t>
            </a:r>
            <a:r>
              <a:rPr sz="1200" dirty="0" err="1">
                <a:latin typeface="Consolas"/>
              </a:rPr>
              <a:t>models.Model</a:t>
            </a:r>
            <a:r>
              <a:rPr sz="1200" dirty="0">
                <a:latin typeface="Consolas"/>
              </a:rPr>
              <a:t>):</a:t>
            </a:r>
            <a:br>
              <a:rPr sz="4400" dirty="0"/>
            </a:br>
            <a:r>
              <a:rPr sz="1200" dirty="0">
                <a:latin typeface="Consolas"/>
              </a:rPr>
              <a:t>    distribution = </a:t>
            </a:r>
            <a:r>
              <a:rPr sz="1200" dirty="0" err="1">
                <a:latin typeface="Consolas"/>
              </a:rPr>
              <a:t>models.ForeignKey</a:t>
            </a:r>
            <a:r>
              <a:rPr sz="1200" dirty="0">
                <a:latin typeface="Consolas"/>
              </a:rPr>
              <a:t>(Distribution, </a:t>
            </a:r>
            <a:r>
              <a:rPr sz="1200" dirty="0" err="1">
                <a:latin typeface="Consolas"/>
              </a:rPr>
              <a:t>on_delete</a:t>
            </a:r>
            <a:r>
              <a:rPr sz="1200" dirty="0">
                <a:latin typeface="Consolas"/>
              </a:rPr>
              <a:t>=</a:t>
            </a:r>
            <a:r>
              <a:rPr sz="1200" dirty="0" err="1">
                <a:latin typeface="Consolas"/>
              </a:rPr>
              <a:t>models.CASCADE</a:t>
            </a:r>
            <a:r>
              <a:rPr sz="1200" dirty="0">
                <a:latin typeface="Consolas"/>
              </a:rPr>
              <a:t>, </a:t>
            </a:r>
            <a:r>
              <a:rPr sz="1200" dirty="0" err="1">
                <a:latin typeface="Consolas"/>
              </a:rPr>
              <a:t>related_name</a:t>
            </a:r>
            <a:r>
              <a:rPr sz="1200" dirty="0">
                <a:latin typeface="Consolas"/>
              </a:rPr>
              <a:t>='items')</a:t>
            </a:r>
            <a:br>
              <a:rPr sz="4400" dirty="0"/>
            </a:br>
            <a:r>
              <a:rPr sz="1200" dirty="0">
                <a:latin typeface="Consolas"/>
              </a:rPr>
              <a:t>    depot = </a:t>
            </a:r>
            <a:r>
              <a:rPr sz="1200" dirty="0" err="1">
                <a:latin typeface="Consolas"/>
              </a:rPr>
              <a:t>models.ForeignKey</a:t>
            </a:r>
            <a:r>
              <a:rPr sz="1200" dirty="0">
                <a:latin typeface="Consolas"/>
              </a:rPr>
              <a:t>('</a:t>
            </a:r>
            <a:r>
              <a:rPr sz="1200" dirty="0" err="1">
                <a:latin typeface="Consolas"/>
              </a:rPr>
              <a:t>depots.Depot</a:t>
            </a:r>
            <a:r>
              <a:rPr sz="1200" dirty="0">
                <a:latin typeface="Consolas"/>
              </a:rPr>
              <a:t>', </a:t>
            </a:r>
            <a:r>
              <a:rPr sz="1200" dirty="0" err="1">
                <a:latin typeface="Consolas"/>
              </a:rPr>
              <a:t>on_delete</a:t>
            </a:r>
            <a:r>
              <a:rPr sz="1200" dirty="0">
                <a:latin typeface="Consolas"/>
              </a:rPr>
              <a:t>=</a:t>
            </a:r>
            <a:r>
              <a:rPr sz="1200" dirty="0" err="1">
                <a:latin typeface="Consolas"/>
              </a:rPr>
              <a:t>models.PROTECT</a:t>
            </a:r>
            <a:r>
              <a:rPr sz="1200" dirty="0">
                <a:latin typeface="Consolas"/>
              </a:rPr>
              <a:t>)</a:t>
            </a:r>
            <a:br>
              <a:rPr sz="4400" dirty="0"/>
            </a:br>
            <a:r>
              <a:rPr sz="1200" dirty="0">
                <a:latin typeface="Consolas"/>
              </a:rPr>
              <a:t>    equipment = </a:t>
            </a:r>
            <a:r>
              <a:rPr sz="1200" dirty="0" err="1">
                <a:latin typeface="Consolas"/>
              </a:rPr>
              <a:t>models.ForeignKey</a:t>
            </a:r>
            <a:r>
              <a:rPr sz="1200" dirty="0">
                <a:latin typeface="Consolas"/>
              </a:rPr>
              <a:t>('</a:t>
            </a:r>
            <a:r>
              <a:rPr sz="1200" dirty="0" err="1">
                <a:latin typeface="Consolas"/>
              </a:rPr>
              <a:t>equipment.Equipment</a:t>
            </a:r>
            <a:r>
              <a:rPr sz="1200" dirty="0">
                <a:latin typeface="Consolas"/>
              </a:rPr>
              <a:t>', </a:t>
            </a:r>
            <a:r>
              <a:rPr sz="1200" dirty="0" err="1">
                <a:latin typeface="Consolas"/>
              </a:rPr>
              <a:t>on_delete</a:t>
            </a:r>
            <a:r>
              <a:rPr sz="1200" dirty="0">
                <a:latin typeface="Consolas"/>
              </a:rPr>
              <a:t>=</a:t>
            </a:r>
            <a:r>
              <a:rPr sz="1200" dirty="0" err="1">
                <a:latin typeface="Consolas"/>
              </a:rPr>
              <a:t>models.PROTECT</a:t>
            </a:r>
            <a:r>
              <a:rPr sz="1200" dirty="0">
                <a:latin typeface="Consolas"/>
              </a:rPr>
              <a:t>)</a:t>
            </a:r>
            <a:br>
              <a:rPr sz="4400" dirty="0"/>
            </a:br>
            <a:r>
              <a:rPr sz="1200" dirty="0">
                <a:latin typeface="Consolas"/>
              </a:rPr>
              <a:t>    quantity = </a:t>
            </a:r>
            <a:r>
              <a:rPr sz="1200" dirty="0" err="1">
                <a:latin typeface="Consolas"/>
              </a:rPr>
              <a:t>models.PositiveIntegerField</a:t>
            </a:r>
            <a:r>
              <a:rPr sz="1200" dirty="0">
                <a:latin typeface="Consolas"/>
              </a:rPr>
              <a:t>()</a:t>
            </a:r>
            <a:br>
              <a:rPr sz="4400" dirty="0"/>
            </a:br>
            <a:r>
              <a:rPr sz="1200" dirty="0">
                <a:latin typeface="Consolas"/>
              </a:rPr>
              <a:t>    </a:t>
            </a:r>
            <a:r>
              <a:rPr sz="1200" dirty="0" err="1">
                <a:latin typeface="Consolas"/>
              </a:rPr>
              <a:t>movement_type</a:t>
            </a:r>
            <a:r>
              <a:rPr sz="1200" dirty="0">
                <a:latin typeface="Consolas"/>
              </a:rPr>
              <a:t> = </a:t>
            </a:r>
            <a:r>
              <a:rPr sz="1200" dirty="0" err="1">
                <a:latin typeface="Consolas"/>
              </a:rPr>
              <a:t>models.CharField</a:t>
            </a:r>
            <a:r>
              <a:rPr sz="1200" dirty="0">
                <a:latin typeface="Consolas"/>
              </a:rPr>
              <a:t>(</a:t>
            </a:r>
            <a:r>
              <a:rPr sz="1200" dirty="0" err="1">
                <a:latin typeface="Consolas"/>
              </a:rPr>
              <a:t>max_length</a:t>
            </a:r>
            <a:r>
              <a:rPr sz="1200" dirty="0">
                <a:latin typeface="Consolas"/>
              </a:rPr>
              <a:t>=20)  # 'Collection', 'Empty Return'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endParaRPr sz="4800" dirty="0"/>
          </a:p>
          <a:p>
            <a:pPr marL="0" indent="0">
              <a:buNone/>
            </a:pPr>
            <a:r>
              <a:rPr sz="1400" dirty="0">
                <a:latin typeface="Consolas"/>
              </a:rPr>
              <a:t>class Customer(</a:t>
            </a:r>
            <a:r>
              <a:rPr sz="1400" dirty="0" err="1">
                <a:latin typeface="Consolas"/>
              </a:rPr>
              <a:t>models.Model</a:t>
            </a:r>
            <a:r>
              <a:rPr sz="1400" dirty="0">
                <a:latin typeface="Consolas"/>
              </a:rPr>
              <a:t>):</a:t>
            </a:r>
            <a:br>
              <a:rPr sz="4800" dirty="0"/>
            </a:br>
            <a:r>
              <a:rPr sz="1400" dirty="0">
                <a:latin typeface="Consolas"/>
              </a:rPr>
              <a:t>    name = </a:t>
            </a:r>
            <a:r>
              <a:rPr sz="1400" dirty="0" err="1">
                <a:latin typeface="Consolas"/>
              </a:rPr>
              <a:t>models.CharField</a:t>
            </a:r>
            <a:r>
              <a:rPr sz="1400" dirty="0">
                <a:latin typeface="Consolas"/>
              </a:rPr>
              <a:t>(</a:t>
            </a:r>
            <a:r>
              <a:rPr sz="1400" dirty="0" err="1">
                <a:latin typeface="Consolas"/>
              </a:rPr>
              <a:t>max_length</a:t>
            </a:r>
            <a:r>
              <a:rPr sz="1400" dirty="0">
                <a:latin typeface="Consolas"/>
              </a:rPr>
              <a:t>=150)</a:t>
            </a:r>
            <a:br>
              <a:rPr sz="4800" dirty="0"/>
            </a:br>
            <a:r>
              <a:rPr sz="1400" dirty="0">
                <a:latin typeface="Consolas"/>
              </a:rPr>
              <a:t>    </a:t>
            </a:r>
            <a:r>
              <a:rPr sz="1400" dirty="0" err="1">
                <a:latin typeface="Consolas"/>
              </a:rPr>
              <a:t>customer_code</a:t>
            </a:r>
            <a:r>
              <a:rPr sz="1400" dirty="0">
                <a:latin typeface="Consolas"/>
              </a:rPr>
              <a:t> = </a:t>
            </a:r>
            <a:r>
              <a:rPr sz="1400" dirty="0" err="1">
                <a:latin typeface="Consolas"/>
              </a:rPr>
              <a:t>models.CharField</a:t>
            </a:r>
            <a:r>
              <a:rPr sz="1400" dirty="0">
                <a:latin typeface="Consolas"/>
              </a:rPr>
              <a:t>(</a:t>
            </a:r>
            <a:r>
              <a:rPr sz="1400" dirty="0" err="1">
                <a:latin typeface="Consolas"/>
              </a:rPr>
              <a:t>max_length</a:t>
            </a:r>
            <a:r>
              <a:rPr sz="1400" dirty="0">
                <a:latin typeface="Consolas"/>
              </a:rPr>
              <a:t>=50, unique=True)</a:t>
            </a:r>
            <a:br>
              <a:rPr sz="4800" dirty="0"/>
            </a:br>
            <a:r>
              <a:rPr sz="1400" dirty="0">
                <a:latin typeface="Consolas"/>
              </a:rPr>
              <a:t>    </a:t>
            </a:r>
            <a:r>
              <a:rPr sz="1400" dirty="0" err="1">
                <a:latin typeface="Consolas"/>
              </a:rPr>
              <a:t>payment_type</a:t>
            </a:r>
            <a:r>
              <a:rPr sz="1400" dirty="0">
                <a:latin typeface="Consolas"/>
              </a:rPr>
              <a:t> = </a:t>
            </a:r>
            <a:r>
              <a:rPr sz="1400" dirty="0" err="1">
                <a:latin typeface="Consolas"/>
              </a:rPr>
              <a:t>models.CharField</a:t>
            </a:r>
            <a:r>
              <a:rPr sz="1400" dirty="0">
                <a:latin typeface="Consolas"/>
              </a:rPr>
              <a:t>(</a:t>
            </a:r>
            <a:r>
              <a:rPr sz="1400" dirty="0" err="1">
                <a:latin typeface="Consolas"/>
              </a:rPr>
              <a:t>max_length</a:t>
            </a:r>
            <a:r>
              <a:rPr sz="1400" dirty="0">
                <a:latin typeface="Consolas"/>
              </a:rPr>
              <a:t>=20)  # 'Monthly', 'Cash'</a:t>
            </a:r>
            <a:br>
              <a:rPr sz="4800" dirty="0"/>
            </a:br>
            <a:r>
              <a:rPr sz="1400" dirty="0">
                <a:latin typeface="Consolas"/>
              </a:rPr>
              <a:t>    </a:t>
            </a:r>
            <a:r>
              <a:rPr sz="1400" dirty="0" err="1">
                <a:latin typeface="Consolas"/>
              </a:rPr>
              <a:t>meter_rate</a:t>
            </a:r>
            <a:r>
              <a:rPr sz="1400" dirty="0">
                <a:latin typeface="Consolas"/>
              </a:rPr>
              <a:t> = </a:t>
            </a:r>
            <a:r>
              <a:rPr sz="1400" dirty="0" err="1">
                <a:latin typeface="Consolas"/>
              </a:rPr>
              <a:t>models.DecimalField</a:t>
            </a:r>
            <a:r>
              <a:rPr sz="1400" dirty="0">
                <a:latin typeface="Consolas"/>
              </a:rPr>
              <a:t>(</a:t>
            </a:r>
            <a:r>
              <a:rPr sz="1400" dirty="0" err="1">
                <a:latin typeface="Consolas"/>
              </a:rPr>
              <a:t>max_digits</a:t>
            </a:r>
            <a:r>
              <a:rPr sz="1400" dirty="0">
                <a:latin typeface="Consolas"/>
              </a:rPr>
              <a:t>=10, </a:t>
            </a:r>
            <a:r>
              <a:rPr sz="1400" dirty="0" err="1">
                <a:latin typeface="Consolas"/>
              </a:rPr>
              <a:t>decimal_places</a:t>
            </a:r>
            <a:r>
              <a:rPr sz="1400" dirty="0">
                <a:latin typeface="Consolas"/>
              </a:rPr>
              <a:t>=2, default=0)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Transaction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2143" y="1600201"/>
            <a:ext cx="8675914" cy="42672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sz="1200" dirty="0">
                <a:latin typeface="Consolas"/>
              </a:rPr>
              <a:t>class Transaction(</a:t>
            </a:r>
            <a:r>
              <a:rPr sz="1200" dirty="0" err="1">
                <a:latin typeface="Consolas"/>
              </a:rPr>
              <a:t>models.Model</a:t>
            </a:r>
            <a:r>
              <a:rPr sz="1200" dirty="0">
                <a:latin typeface="Consolas"/>
              </a:rPr>
              <a:t>):</a:t>
            </a:r>
            <a:br>
              <a:rPr sz="4400" dirty="0"/>
            </a:br>
            <a:r>
              <a:rPr sz="1200" dirty="0">
                <a:latin typeface="Consolas"/>
              </a:rPr>
              <a:t>    user = </a:t>
            </a:r>
            <a:r>
              <a:rPr sz="1200" dirty="0" err="1">
                <a:latin typeface="Consolas"/>
              </a:rPr>
              <a:t>models.ForeignKey</a:t>
            </a:r>
            <a:r>
              <a:rPr sz="1200" dirty="0">
                <a:latin typeface="Consolas"/>
              </a:rPr>
              <a:t>('</a:t>
            </a:r>
            <a:r>
              <a:rPr sz="1200" dirty="0" err="1">
                <a:latin typeface="Consolas"/>
              </a:rPr>
              <a:t>accounts.User</a:t>
            </a:r>
            <a:r>
              <a:rPr sz="1200" dirty="0">
                <a:latin typeface="Consolas"/>
              </a:rPr>
              <a:t>', </a:t>
            </a:r>
            <a:r>
              <a:rPr sz="1200" dirty="0" err="1">
                <a:latin typeface="Consolas"/>
              </a:rPr>
              <a:t>on_delete</a:t>
            </a:r>
            <a:r>
              <a:rPr sz="1200" dirty="0">
                <a:latin typeface="Consolas"/>
              </a:rPr>
              <a:t>=</a:t>
            </a:r>
            <a:r>
              <a:rPr sz="1200" dirty="0" err="1">
                <a:latin typeface="Consolas"/>
              </a:rPr>
              <a:t>models.SET_NULL</a:t>
            </a:r>
            <a:r>
              <a:rPr sz="1200" dirty="0">
                <a:latin typeface="Consolas"/>
              </a:rPr>
              <a:t>, null=True)</a:t>
            </a:r>
            <a:br>
              <a:rPr sz="4400" dirty="0"/>
            </a:br>
            <a:r>
              <a:rPr sz="1200" dirty="0">
                <a:latin typeface="Consolas"/>
              </a:rPr>
              <a:t>    customer = </a:t>
            </a:r>
            <a:r>
              <a:rPr sz="1200" dirty="0" err="1">
                <a:latin typeface="Consolas"/>
              </a:rPr>
              <a:t>models.ForeignKey</a:t>
            </a:r>
            <a:r>
              <a:rPr sz="1200" dirty="0">
                <a:latin typeface="Consolas"/>
              </a:rPr>
              <a:t>('</a:t>
            </a:r>
            <a:r>
              <a:rPr sz="1200" dirty="0" err="1">
                <a:latin typeface="Consolas"/>
              </a:rPr>
              <a:t>customers.Customer</a:t>
            </a:r>
            <a:r>
              <a:rPr sz="1200" dirty="0">
                <a:latin typeface="Consolas"/>
              </a:rPr>
              <a:t>', </a:t>
            </a:r>
            <a:r>
              <a:rPr sz="1200" dirty="0" err="1">
                <a:latin typeface="Consolas"/>
              </a:rPr>
              <a:t>on_delete</a:t>
            </a:r>
            <a:r>
              <a:rPr sz="1200" dirty="0">
                <a:latin typeface="Consolas"/>
              </a:rPr>
              <a:t>=</a:t>
            </a:r>
            <a:r>
              <a:rPr sz="1200" dirty="0" err="1">
                <a:latin typeface="Consolas"/>
              </a:rPr>
              <a:t>models.PROTECT</a:t>
            </a:r>
            <a:r>
              <a:rPr sz="1200" dirty="0">
                <a:latin typeface="Consolas"/>
              </a:rPr>
              <a:t>)</a:t>
            </a:r>
            <a:br>
              <a:rPr sz="4400" dirty="0"/>
            </a:br>
            <a:r>
              <a:rPr sz="1200" dirty="0">
                <a:latin typeface="Consolas"/>
              </a:rPr>
              <a:t>    </a:t>
            </a:r>
            <a:r>
              <a:rPr sz="1200" dirty="0" err="1">
                <a:latin typeface="Consolas"/>
              </a:rPr>
              <a:t>transaction_number</a:t>
            </a:r>
            <a:r>
              <a:rPr sz="1200" dirty="0">
                <a:latin typeface="Consolas"/>
              </a:rPr>
              <a:t> = </a:t>
            </a:r>
            <a:r>
              <a:rPr sz="1200" dirty="0" err="1">
                <a:latin typeface="Consolas"/>
              </a:rPr>
              <a:t>models.CharField</a:t>
            </a:r>
            <a:r>
              <a:rPr sz="1200" dirty="0">
                <a:latin typeface="Consolas"/>
              </a:rPr>
              <a:t>(</a:t>
            </a:r>
            <a:r>
              <a:rPr sz="1200" dirty="0" err="1">
                <a:latin typeface="Consolas"/>
              </a:rPr>
              <a:t>max_length</a:t>
            </a:r>
            <a:r>
              <a:rPr sz="1200" dirty="0">
                <a:latin typeface="Consolas"/>
              </a:rPr>
              <a:t>=50, unique=True)</a:t>
            </a:r>
            <a:br>
              <a:rPr sz="4400" dirty="0"/>
            </a:br>
            <a:r>
              <a:rPr sz="1200" dirty="0">
                <a:latin typeface="Consolas"/>
              </a:rPr>
              <a:t>    status = </a:t>
            </a:r>
            <a:r>
              <a:rPr sz="1200" dirty="0" err="1">
                <a:latin typeface="Consolas"/>
              </a:rPr>
              <a:t>models.CharField</a:t>
            </a:r>
            <a:r>
              <a:rPr sz="1200" dirty="0">
                <a:latin typeface="Consolas"/>
              </a:rPr>
              <a:t>(</a:t>
            </a:r>
            <a:r>
              <a:rPr sz="1200" dirty="0" err="1">
                <a:latin typeface="Consolas"/>
              </a:rPr>
              <a:t>max_length</a:t>
            </a:r>
            <a:r>
              <a:rPr sz="1200" dirty="0">
                <a:latin typeface="Consolas"/>
              </a:rPr>
              <a:t>=20, default='Pending')</a:t>
            </a:r>
            <a:br>
              <a:rPr sz="4400" dirty="0"/>
            </a:br>
            <a:r>
              <a:rPr sz="1200" dirty="0">
                <a:latin typeface="Consolas"/>
              </a:rPr>
              <a:t>    </a:t>
            </a:r>
            <a:r>
              <a:rPr sz="1200" dirty="0" err="1">
                <a:latin typeface="Consolas"/>
              </a:rPr>
              <a:t>last_meter_reading</a:t>
            </a:r>
            <a:r>
              <a:rPr sz="1200" dirty="0">
                <a:latin typeface="Consolas"/>
              </a:rPr>
              <a:t> = </a:t>
            </a:r>
            <a:r>
              <a:rPr sz="1200" dirty="0" err="1">
                <a:latin typeface="Consolas"/>
              </a:rPr>
              <a:t>models.DecimalField</a:t>
            </a:r>
            <a:r>
              <a:rPr sz="1200" dirty="0">
                <a:latin typeface="Consolas"/>
              </a:rPr>
              <a:t>(</a:t>
            </a:r>
            <a:r>
              <a:rPr sz="1200" dirty="0" err="1">
                <a:latin typeface="Consolas"/>
              </a:rPr>
              <a:t>max_digits</a:t>
            </a:r>
            <a:r>
              <a:rPr sz="1200" dirty="0">
                <a:latin typeface="Consolas"/>
              </a:rPr>
              <a:t>=12, </a:t>
            </a:r>
            <a:r>
              <a:rPr sz="1200" dirty="0" err="1">
                <a:latin typeface="Consolas"/>
              </a:rPr>
              <a:t>decimal_places</a:t>
            </a:r>
            <a:r>
              <a:rPr sz="1200" dirty="0">
                <a:latin typeface="Consolas"/>
              </a:rPr>
              <a:t>=2)</a:t>
            </a:r>
            <a:br>
              <a:rPr sz="4400" dirty="0"/>
            </a:br>
            <a:r>
              <a:rPr sz="1200" dirty="0">
                <a:latin typeface="Consolas"/>
              </a:rPr>
              <a:t>    </a:t>
            </a:r>
            <a:r>
              <a:rPr sz="1200" dirty="0" err="1">
                <a:latin typeface="Consolas"/>
              </a:rPr>
              <a:t>current_meter_reading</a:t>
            </a:r>
            <a:r>
              <a:rPr sz="1200" dirty="0">
                <a:latin typeface="Consolas"/>
              </a:rPr>
              <a:t> = </a:t>
            </a:r>
            <a:r>
              <a:rPr sz="1200" dirty="0" err="1">
                <a:latin typeface="Consolas"/>
              </a:rPr>
              <a:t>models.DecimalField</a:t>
            </a:r>
            <a:r>
              <a:rPr sz="1200" dirty="0">
                <a:latin typeface="Consolas"/>
              </a:rPr>
              <a:t>(</a:t>
            </a:r>
            <a:r>
              <a:rPr sz="1200" dirty="0" err="1">
                <a:latin typeface="Consolas"/>
              </a:rPr>
              <a:t>max_digits</a:t>
            </a:r>
            <a:r>
              <a:rPr sz="1200" dirty="0">
                <a:latin typeface="Consolas"/>
              </a:rPr>
              <a:t>=12, </a:t>
            </a:r>
            <a:r>
              <a:rPr sz="1200" dirty="0" err="1">
                <a:latin typeface="Consolas"/>
              </a:rPr>
              <a:t>decimal_places</a:t>
            </a:r>
            <a:r>
              <a:rPr sz="1200" dirty="0">
                <a:latin typeface="Consolas"/>
              </a:rPr>
              <a:t>=2)</a:t>
            </a:r>
            <a:br>
              <a:rPr sz="4400" dirty="0"/>
            </a:br>
            <a:r>
              <a:rPr sz="1200" dirty="0">
                <a:latin typeface="Consolas"/>
              </a:rPr>
              <a:t>    </a:t>
            </a:r>
            <a:r>
              <a:rPr sz="1200" dirty="0" err="1">
                <a:latin typeface="Consolas"/>
              </a:rPr>
              <a:t>total_amount</a:t>
            </a:r>
            <a:r>
              <a:rPr sz="1200" dirty="0">
                <a:latin typeface="Consolas"/>
              </a:rPr>
              <a:t> = </a:t>
            </a:r>
            <a:r>
              <a:rPr sz="1200" dirty="0" err="1">
                <a:latin typeface="Consolas"/>
              </a:rPr>
              <a:t>models.DecimalField</a:t>
            </a:r>
            <a:r>
              <a:rPr sz="1200" dirty="0">
                <a:latin typeface="Consolas"/>
              </a:rPr>
              <a:t>(</a:t>
            </a:r>
            <a:r>
              <a:rPr sz="1200" dirty="0" err="1">
                <a:latin typeface="Consolas"/>
              </a:rPr>
              <a:t>max_digits</a:t>
            </a:r>
            <a:r>
              <a:rPr sz="1200" dirty="0">
                <a:latin typeface="Consolas"/>
              </a:rPr>
              <a:t>=14, </a:t>
            </a:r>
            <a:r>
              <a:rPr sz="1200" dirty="0" err="1">
                <a:latin typeface="Consolas"/>
              </a:rPr>
              <a:t>decimal_places</a:t>
            </a:r>
            <a:r>
              <a:rPr sz="1200" dirty="0">
                <a:latin typeface="Consolas"/>
              </a:rPr>
              <a:t>=2)</a:t>
            </a:r>
            <a:br>
              <a:rPr sz="4400" dirty="0"/>
            </a:br>
            <a:r>
              <a:rPr sz="1200" dirty="0">
                <a:latin typeface="Consolas"/>
              </a:rPr>
              <a:t>    </a:t>
            </a:r>
            <a:r>
              <a:rPr sz="1200" dirty="0" err="1">
                <a:latin typeface="Consolas"/>
              </a:rPr>
              <a:t>payment_received</a:t>
            </a:r>
            <a:r>
              <a:rPr sz="1200" dirty="0">
                <a:latin typeface="Consolas"/>
              </a:rPr>
              <a:t> = </a:t>
            </a:r>
            <a:r>
              <a:rPr sz="1200" dirty="0" err="1">
                <a:latin typeface="Consolas"/>
              </a:rPr>
              <a:t>models.BooleanField</a:t>
            </a:r>
            <a:r>
              <a:rPr sz="1200" dirty="0">
                <a:latin typeface="Consolas"/>
              </a:rPr>
              <a:t>(default=False)</a:t>
            </a:r>
            <a:br>
              <a:rPr sz="4400" dirty="0"/>
            </a:br>
            <a:r>
              <a:rPr sz="1200" dirty="0">
                <a:latin typeface="Consolas"/>
              </a:rPr>
              <a:t>    </a:t>
            </a:r>
            <a:r>
              <a:rPr sz="1200" dirty="0" err="1">
                <a:latin typeface="Consolas"/>
              </a:rPr>
              <a:t>created_at</a:t>
            </a:r>
            <a:r>
              <a:rPr sz="1200" dirty="0">
                <a:latin typeface="Consolas"/>
              </a:rPr>
              <a:t> = </a:t>
            </a:r>
            <a:r>
              <a:rPr sz="1200" dirty="0" err="1">
                <a:latin typeface="Consolas"/>
              </a:rPr>
              <a:t>models.DateTimeField</a:t>
            </a:r>
            <a:r>
              <a:rPr sz="1200" dirty="0">
                <a:latin typeface="Consolas"/>
              </a:rPr>
              <a:t>(</a:t>
            </a:r>
            <a:r>
              <a:rPr sz="1200" dirty="0" err="1">
                <a:latin typeface="Consolas"/>
              </a:rPr>
              <a:t>auto_now_add</a:t>
            </a:r>
            <a:r>
              <a:rPr sz="1200" dirty="0">
                <a:latin typeface="Consolas"/>
              </a:rPr>
              <a:t>=True)</a:t>
            </a:r>
            <a:br>
              <a:rPr sz="4400" dirty="0"/>
            </a:br>
            <a:br>
              <a:rPr sz="4400" dirty="0"/>
            </a:br>
            <a:r>
              <a:rPr sz="1200" dirty="0">
                <a:latin typeface="Consolas"/>
              </a:rPr>
              <a:t>class </a:t>
            </a:r>
            <a:r>
              <a:rPr sz="1200" dirty="0" err="1">
                <a:latin typeface="Consolas"/>
              </a:rPr>
              <a:t>TransactionItem</a:t>
            </a:r>
            <a:r>
              <a:rPr sz="1200" dirty="0">
                <a:latin typeface="Consolas"/>
              </a:rPr>
              <a:t>(</a:t>
            </a:r>
            <a:r>
              <a:rPr sz="1200" dirty="0" err="1">
                <a:latin typeface="Consolas"/>
              </a:rPr>
              <a:t>models.Model</a:t>
            </a:r>
            <a:r>
              <a:rPr sz="1200" dirty="0">
                <a:latin typeface="Consolas"/>
              </a:rPr>
              <a:t>):</a:t>
            </a:r>
            <a:br>
              <a:rPr sz="4400" dirty="0"/>
            </a:br>
            <a:r>
              <a:rPr sz="1200" dirty="0">
                <a:latin typeface="Consolas"/>
              </a:rPr>
              <a:t>    transaction = </a:t>
            </a:r>
            <a:r>
              <a:rPr sz="1200" dirty="0" err="1">
                <a:latin typeface="Consolas"/>
              </a:rPr>
              <a:t>models.ForeignKey</a:t>
            </a:r>
            <a:r>
              <a:rPr sz="1200" dirty="0">
                <a:latin typeface="Consolas"/>
              </a:rPr>
              <a:t>(Transaction, </a:t>
            </a:r>
            <a:r>
              <a:rPr sz="1200" dirty="0" err="1">
                <a:latin typeface="Consolas"/>
              </a:rPr>
              <a:t>on_delete</a:t>
            </a:r>
            <a:r>
              <a:rPr sz="1200" dirty="0">
                <a:latin typeface="Consolas"/>
              </a:rPr>
              <a:t>=</a:t>
            </a:r>
            <a:r>
              <a:rPr sz="1200" dirty="0" err="1">
                <a:latin typeface="Consolas"/>
              </a:rPr>
              <a:t>models.CASCADE</a:t>
            </a:r>
            <a:r>
              <a:rPr sz="1200" dirty="0">
                <a:latin typeface="Consolas"/>
              </a:rPr>
              <a:t>, </a:t>
            </a:r>
            <a:r>
              <a:rPr sz="1200" dirty="0" err="1">
                <a:latin typeface="Consolas"/>
              </a:rPr>
              <a:t>related_name</a:t>
            </a:r>
            <a:r>
              <a:rPr sz="1200" dirty="0">
                <a:latin typeface="Consolas"/>
              </a:rPr>
              <a:t>='items')</a:t>
            </a:r>
            <a:br>
              <a:rPr sz="4400" dirty="0"/>
            </a:br>
            <a:r>
              <a:rPr sz="1200" dirty="0">
                <a:latin typeface="Consolas"/>
              </a:rPr>
              <a:t>    equipment = </a:t>
            </a:r>
            <a:r>
              <a:rPr sz="1200" dirty="0" err="1">
                <a:latin typeface="Consolas"/>
              </a:rPr>
              <a:t>models.ForeignKey</a:t>
            </a:r>
            <a:r>
              <a:rPr sz="1200" dirty="0">
                <a:latin typeface="Consolas"/>
              </a:rPr>
              <a:t>('</a:t>
            </a:r>
            <a:r>
              <a:rPr sz="1200" dirty="0" err="1">
                <a:latin typeface="Consolas"/>
              </a:rPr>
              <a:t>equipment.Equipment</a:t>
            </a:r>
            <a:r>
              <a:rPr sz="1200" dirty="0">
                <a:latin typeface="Consolas"/>
              </a:rPr>
              <a:t>', </a:t>
            </a:r>
            <a:r>
              <a:rPr sz="1200" dirty="0" err="1">
                <a:latin typeface="Consolas"/>
              </a:rPr>
              <a:t>on_delete</a:t>
            </a:r>
            <a:r>
              <a:rPr sz="1200" dirty="0">
                <a:latin typeface="Consolas"/>
              </a:rPr>
              <a:t>=</a:t>
            </a:r>
            <a:r>
              <a:rPr sz="1200" dirty="0" err="1">
                <a:latin typeface="Consolas"/>
              </a:rPr>
              <a:t>models.PROTECT</a:t>
            </a:r>
            <a:r>
              <a:rPr sz="1200" dirty="0">
                <a:latin typeface="Consolas"/>
              </a:rPr>
              <a:t>)</a:t>
            </a:r>
            <a:br>
              <a:rPr sz="4400" dirty="0"/>
            </a:br>
            <a:r>
              <a:rPr sz="1200" dirty="0">
                <a:latin typeface="Consolas"/>
              </a:rPr>
              <a:t>    quantity = </a:t>
            </a:r>
            <a:r>
              <a:rPr sz="1200" dirty="0" err="1">
                <a:latin typeface="Consolas"/>
              </a:rPr>
              <a:t>models.IntegerField</a:t>
            </a:r>
            <a:r>
              <a:rPr sz="1200" dirty="0">
                <a:latin typeface="Consolas"/>
              </a:rPr>
              <a:t>()</a:t>
            </a:r>
            <a:br>
              <a:rPr sz="4400" dirty="0"/>
            </a:br>
            <a:r>
              <a:rPr sz="1200" dirty="0">
                <a:latin typeface="Consolas"/>
              </a:rPr>
              <a:t>    rate = </a:t>
            </a:r>
            <a:r>
              <a:rPr sz="1200" dirty="0" err="1">
                <a:latin typeface="Consolas"/>
              </a:rPr>
              <a:t>models.DecimalField</a:t>
            </a:r>
            <a:r>
              <a:rPr sz="1200" dirty="0">
                <a:latin typeface="Consolas"/>
              </a:rPr>
              <a:t>(</a:t>
            </a:r>
            <a:r>
              <a:rPr sz="1200" dirty="0" err="1">
                <a:latin typeface="Consolas"/>
              </a:rPr>
              <a:t>max_digits</a:t>
            </a:r>
            <a:r>
              <a:rPr sz="1200" dirty="0">
                <a:latin typeface="Consolas"/>
              </a:rPr>
              <a:t>=10, </a:t>
            </a:r>
            <a:r>
              <a:rPr sz="1200" dirty="0" err="1">
                <a:latin typeface="Consolas"/>
              </a:rPr>
              <a:t>decimal_places</a:t>
            </a:r>
            <a:r>
              <a:rPr sz="1200" dirty="0">
                <a:latin typeface="Consolas"/>
              </a:rPr>
              <a:t>=2)</a:t>
            </a:r>
            <a:br>
              <a:rPr sz="4400" dirty="0"/>
            </a:br>
            <a:r>
              <a:rPr sz="1200" dirty="0">
                <a:latin typeface="Consolas"/>
              </a:rPr>
              <a:t>    </a:t>
            </a:r>
            <a:r>
              <a:rPr sz="1200" dirty="0" err="1">
                <a:latin typeface="Consolas"/>
              </a:rPr>
              <a:t>item_type</a:t>
            </a:r>
            <a:r>
              <a:rPr sz="1200" dirty="0">
                <a:latin typeface="Consolas"/>
              </a:rPr>
              <a:t> = </a:t>
            </a:r>
            <a:r>
              <a:rPr sz="1200" dirty="0" err="1">
                <a:latin typeface="Consolas"/>
              </a:rPr>
              <a:t>models.CharField</a:t>
            </a:r>
            <a:r>
              <a:rPr sz="1200" dirty="0">
                <a:latin typeface="Consolas"/>
              </a:rPr>
              <a:t>(</a:t>
            </a:r>
            <a:r>
              <a:rPr sz="1200" dirty="0" err="1">
                <a:latin typeface="Consolas"/>
              </a:rPr>
              <a:t>max_length</a:t>
            </a:r>
            <a:r>
              <a:rPr sz="1200" dirty="0">
                <a:latin typeface="Consolas"/>
              </a:rPr>
              <a:t>=30)  # 'Delivery', 'Empty Return', 'Service'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Invoice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243" y="1600200"/>
            <a:ext cx="8523514" cy="45259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endParaRPr sz="6000" dirty="0"/>
          </a:p>
          <a:p>
            <a:pPr marL="0" indent="0">
              <a:buNone/>
            </a:pPr>
            <a:r>
              <a:rPr sz="1800" dirty="0">
                <a:latin typeface="Consolas"/>
              </a:rPr>
              <a:t>class Invoice(</a:t>
            </a:r>
            <a:r>
              <a:rPr sz="1800" dirty="0" err="1">
                <a:latin typeface="Consolas"/>
              </a:rPr>
              <a:t>models.Model</a:t>
            </a:r>
            <a:r>
              <a:rPr sz="1800" dirty="0">
                <a:latin typeface="Consolas"/>
              </a:rPr>
              <a:t>):</a:t>
            </a:r>
            <a:br>
              <a:rPr sz="6000" dirty="0"/>
            </a:br>
            <a:r>
              <a:rPr sz="1800" dirty="0">
                <a:latin typeface="Consolas"/>
              </a:rPr>
              <a:t>    transaction = </a:t>
            </a:r>
            <a:r>
              <a:rPr sz="1800" dirty="0" err="1">
                <a:latin typeface="Consolas"/>
              </a:rPr>
              <a:t>models.OneToOneField</a:t>
            </a:r>
            <a:r>
              <a:rPr sz="1800" dirty="0">
                <a:latin typeface="Consolas"/>
              </a:rPr>
              <a:t>('</a:t>
            </a:r>
            <a:r>
              <a:rPr sz="1800" dirty="0" err="1">
                <a:latin typeface="Consolas"/>
              </a:rPr>
              <a:t>transactions.Transaction</a:t>
            </a:r>
            <a:r>
              <a:rPr sz="1800" dirty="0">
                <a:latin typeface="Consolas"/>
              </a:rPr>
              <a:t>’, </a:t>
            </a:r>
            <a:endParaRPr lang="en-SG" sz="1800" dirty="0">
              <a:latin typeface="Consolas"/>
            </a:endParaRPr>
          </a:p>
          <a:p>
            <a:pPr marL="0" indent="0">
              <a:buNone/>
            </a:pPr>
            <a:r>
              <a:rPr lang="en-SG" sz="1800" dirty="0">
                <a:latin typeface="Consolas"/>
              </a:rPr>
              <a:t>		</a:t>
            </a:r>
            <a:r>
              <a:rPr sz="1800" dirty="0" err="1">
                <a:latin typeface="Consolas"/>
              </a:rPr>
              <a:t>on_delete</a:t>
            </a:r>
            <a:r>
              <a:rPr sz="1800" dirty="0">
                <a:latin typeface="Consolas"/>
              </a:rPr>
              <a:t>=</a:t>
            </a:r>
            <a:r>
              <a:rPr sz="1800" dirty="0" err="1">
                <a:latin typeface="Consolas"/>
              </a:rPr>
              <a:t>models.CASCADE</a:t>
            </a:r>
            <a:r>
              <a:rPr sz="1800" dirty="0">
                <a:latin typeface="Consolas"/>
              </a:rPr>
              <a:t>)</a:t>
            </a:r>
            <a:br>
              <a:rPr sz="6000" dirty="0"/>
            </a:br>
            <a:r>
              <a:rPr sz="1800" dirty="0">
                <a:latin typeface="Consolas"/>
              </a:rPr>
              <a:t>    </a:t>
            </a:r>
            <a:r>
              <a:rPr sz="1800" dirty="0" err="1">
                <a:latin typeface="Consolas"/>
              </a:rPr>
              <a:t>invoice_number</a:t>
            </a:r>
            <a:r>
              <a:rPr sz="1800" dirty="0">
                <a:latin typeface="Consolas"/>
              </a:rPr>
              <a:t> = </a:t>
            </a:r>
            <a:r>
              <a:rPr sz="1800" dirty="0" err="1">
                <a:latin typeface="Consolas"/>
              </a:rPr>
              <a:t>models.CharField</a:t>
            </a:r>
            <a:r>
              <a:rPr sz="1800" dirty="0">
                <a:latin typeface="Consolas"/>
              </a:rPr>
              <a:t>(</a:t>
            </a:r>
            <a:r>
              <a:rPr sz="1800" dirty="0" err="1">
                <a:latin typeface="Consolas"/>
              </a:rPr>
              <a:t>max_length</a:t>
            </a:r>
            <a:r>
              <a:rPr sz="1800" dirty="0">
                <a:latin typeface="Consolas"/>
              </a:rPr>
              <a:t>=50, unique=True)</a:t>
            </a:r>
            <a:endParaRPr lang="en-SG" sz="1800" dirty="0">
              <a:latin typeface="Consolas"/>
            </a:endParaRPr>
          </a:p>
          <a:p>
            <a:pPr marL="0" indent="0">
              <a:buNone/>
            </a:pPr>
            <a:endParaRPr lang="en-SG" sz="1800" dirty="0">
              <a:latin typeface="Consolas"/>
            </a:endParaRPr>
          </a:p>
          <a:p>
            <a:pPr marL="0" indent="0">
              <a:buNone/>
            </a:pPr>
            <a:r>
              <a:rPr lang="en-SG" sz="1800" dirty="0">
                <a:latin typeface="Consolas"/>
              </a:rPr>
              <a:t>    # generated, printed, emailed, paid</a:t>
            </a:r>
            <a:br>
              <a:rPr sz="6000" dirty="0"/>
            </a:br>
            <a:r>
              <a:rPr sz="1800" dirty="0">
                <a:latin typeface="Consolas"/>
              </a:rPr>
              <a:t>    status = </a:t>
            </a:r>
            <a:r>
              <a:rPr sz="1800" dirty="0" err="1">
                <a:latin typeface="Consolas"/>
              </a:rPr>
              <a:t>models.CharField</a:t>
            </a:r>
            <a:r>
              <a:rPr sz="1800" dirty="0">
                <a:latin typeface="Consolas"/>
              </a:rPr>
              <a:t>(</a:t>
            </a:r>
            <a:r>
              <a:rPr sz="1800" dirty="0" err="1">
                <a:latin typeface="Consolas"/>
              </a:rPr>
              <a:t>max_length</a:t>
            </a:r>
            <a:r>
              <a:rPr sz="1800" dirty="0">
                <a:latin typeface="Consolas"/>
              </a:rPr>
              <a:t>=30, default='generated')</a:t>
            </a:r>
            <a:br>
              <a:rPr sz="6000" dirty="0"/>
            </a:br>
            <a:r>
              <a:rPr sz="1800" dirty="0">
                <a:latin typeface="Consolas"/>
              </a:rPr>
              <a:t>    </a:t>
            </a:r>
            <a:r>
              <a:rPr sz="1800" dirty="0" err="1">
                <a:latin typeface="Consolas"/>
              </a:rPr>
              <a:t>pdf_file</a:t>
            </a:r>
            <a:r>
              <a:rPr sz="1800" dirty="0">
                <a:latin typeface="Consolas"/>
              </a:rPr>
              <a:t> = </a:t>
            </a:r>
            <a:r>
              <a:rPr sz="1800" dirty="0" err="1">
                <a:latin typeface="Consolas"/>
              </a:rPr>
              <a:t>models.FileField</a:t>
            </a:r>
            <a:r>
              <a:rPr sz="1800" dirty="0">
                <a:latin typeface="Consolas"/>
              </a:rPr>
              <a:t>(</a:t>
            </a:r>
            <a:r>
              <a:rPr sz="1800" dirty="0" err="1">
                <a:latin typeface="Consolas"/>
              </a:rPr>
              <a:t>upload_to</a:t>
            </a:r>
            <a:r>
              <a:rPr sz="1800" dirty="0">
                <a:latin typeface="Consolas"/>
              </a:rPr>
              <a:t>='invoices/’, </a:t>
            </a:r>
            <a:endParaRPr lang="en-SG" sz="1800" dirty="0">
              <a:latin typeface="Consolas"/>
            </a:endParaRPr>
          </a:p>
          <a:p>
            <a:pPr marL="0" indent="0">
              <a:buNone/>
            </a:pPr>
            <a:r>
              <a:rPr lang="en-SG" sz="1800" dirty="0">
                <a:latin typeface="Consolas"/>
              </a:rPr>
              <a:t>		</a:t>
            </a:r>
            <a:r>
              <a:rPr sz="1800" dirty="0">
                <a:latin typeface="Consolas"/>
              </a:rPr>
              <a:t>null=True, blank=True)</a:t>
            </a:r>
            <a:br>
              <a:rPr sz="6000" dirty="0"/>
            </a:br>
            <a:r>
              <a:rPr sz="1800" dirty="0">
                <a:latin typeface="Consolas"/>
              </a:rPr>
              <a:t>    </a:t>
            </a:r>
            <a:r>
              <a:rPr sz="1800" dirty="0" err="1">
                <a:latin typeface="Consolas"/>
              </a:rPr>
              <a:t>created_at</a:t>
            </a:r>
            <a:r>
              <a:rPr sz="1800" dirty="0">
                <a:latin typeface="Consolas"/>
              </a:rPr>
              <a:t> = </a:t>
            </a:r>
            <a:r>
              <a:rPr sz="1800" dirty="0" err="1">
                <a:latin typeface="Consolas"/>
              </a:rPr>
              <a:t>models.DateTimeField</a:t>
            </a:r>
            <a:r>
              <a:rPr sz="1800" dirty="0">
                <a:latin typeface="Consolas"/>
              </a:rPr>
              <a:t>(</a:t>
            </a:r>
            <a:r>
              <a:rPr sz="1800" dirty="0" err="1">
                <a:latin typeface="Consolas"/>
              </a:rPr>
              <a:t>auto_now_add</a:t>
            </a:r>
            <a:r>
              <a:rPr sz="1800" dirty="0">
                <a:latin typeface="Consolas"/>
              </a:rPr>
              <a:t>=True)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AuditLog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2143" y="1600200"/>
            <a:ext cx="8588828" cy="45259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endParaRPr sz="4800" dirty="0"/>
          </a:p>
          <a:p>
            <a:pPr marL="0" indent="0">
              <a:buNone/>
            </a:pPr>
            <a:r>
              <a:rPr sz="1400" dirty="0">
                <a:latin typeface="Consolas"/>
              </a:rPr>
              <a:t>class </a:t>
            </a:r>
            <a:r>
              <a:rPr sz="1400" dirty="0" err="1">
                <a:latin typeface="Consolas"/>
              </a:rPr>
              <a:t>AuditLog</a:t>
            </a:r>
            <a:r>
              <a:rPr sz="1400" dirty="0">
                <a:latin typeface="Consolas"/>
              </a:rPr>
              <a:t>(</a:t>
            </a:r>
            <a:r>
              <a:rPr sz="1400" dirty="0" err="1">
                <a:latin typeface="Consolas"/>
              </a:rPr>
              <a:t>models.Model</a:t>
            </a:r>
            <a:r>
              <a:rPr sz="1400" dirty="0">
                <a:latin typeface="Consolas"/>
              </a:rPr>
              <a:t>):</a:t>
            </a:r>
            <a:br>
              <a:rPr sz="4800" dirty="0"/>
            </a:br>
            <a:r>
              <a:rPr sz="1400" dirty="0">
                <a:latin typeface="Consolas"/>
              </a:rPr>
              <a:t>    user = </a:t>
            </a:r>
            <a:r>
              <a:rPr sz="1400" dirty="0" err="1">
                <a:latin typeface="Consolas"/>
              </a:rPr>
              <a:t>models.ForeignKey</a:t>
            </a:r>
            <a:r>
              <a:rPr sz="1400" dirty="0">
                <a:latin typeface="Consolas"/>
              </a:rPr>
              <a:t>('</a:t>
            </a:r>
            <a:r>
              <a:rPr sz="1400" dirty="0" err="1">
                <a:latin typeface="Consolas"/>
              </a:rPr>
              <a:t>accounts.User</a:t>
            </a:r>
            <a:r>
              <a:rPr sz="1400" dirty="0">
                <a:latin typeface="Consolas"/>
              </a:rPr>
              <a:t>', </a:t>
            </a:r>
            <a:r>
              <a:rPr sz="1400" dirty="0" err="1">
                <a:latin typeface="Consolas"/>
              </a:rPr>
              <a:t>on_delete</a:t>
            </a:r>
            <a:r>
              <a:rPr sz="1400" dirty="0">
                <a:latin typeface="Consolas"/>
              </a:rPr>
              <a:t>=</a:t>
            </a:r>
            <a:r>
              <a:rPr sz="1400" dirty="0" err="1">
                <a:latin typeface="Consolas"/>
              </a:rPr>
              <a:t>models.SET_NULL</a:t>
            </a:r>
            <a:r>
              <a:rPr sz="1400" dirty="0">
                <a:latin typeface="Consolas"/>
              </a:rPr>
              <a:t>, null=True)</a:t>
            </a:r>
            <a:br>
              <a:rPr sz="4800" dirty="0"/>
            </a:br>
            <a:r>
              <a:rPr sz="1400" dirty="0">
                <a:latin typeface="Consolas"/>
              </a:rPr>
              <a:t>    action = </a:t>
            </a:r>
            <a:r>
              <a:rPr sz="1400" dirty="0" err="1">
                <a:latin typeface="Consolas"/>
              </a:rPr>
              <a:t>models.CharField</a:t>
            </a:r>
            <a:r>
              <a:rPr sz="1400" dirty="0">
                <a:latin typeface="Consolas"/>
              </a:rPr>
              <a:t>(</a:t>
            </a:r>
            <a:r>
              <a:rPr sz="1400" dirty="0" err="1">
                <a:latin typeface="Consolas"/>
              </a:rPr>
              <a:t>max_length</a:t>
            </a:r>
            <a:r>
              <a:rPr sz="1400" dirty="0">
                <a:latin typeface="Consolas"/>
              </a:rPr>
              <a:t>=30)               # Create, Confirm, Update</a:t>
            </a:r>
            <a:br>
              <a:rPr sz="4800" dirty="0"/>
            </a:br>
            <a:r>
              <a:rPr sz="1400" dirty="0">
                <a:latin typeface="Consolas"/>
              </a:rPr>
              <a:t>    </a:t>
            </a:r>
            <a:r>
              <a:rPr sz="1400" dirty="0" err="1">
                <a:latin typeface="Consolas"/>
              </a:rPr>
              <a:t>entity_type</a:t>
            </a:r>
            <a:r>
              <a:rPr sz="1400" dirty="0">
                <a:latin typeface="Consolas"/>
              </a:rPr>
              <a:t> = </a:t>
            </a:r>
            <a:r>
              <a:rPr sz="1400" dirty="0" err="1">
                <a:latin typeface="Consolas"/>
              </a:rPr>
              <a:t>models.CharField</a:t>
            </a:r>
            <a:r>
              <a:rPr sz="1400" dirty="0">
                <a:latin typeface="Consolas"/>
              </a:rPr>
              <a:t>(</a:t>
            </a:r>
            <a:r>
              <a:rPr sz="1400" dirty="0" err="1">
                <a:latin typeface="Consolas"/>
              </a:rPr>
              <a:t>max_length</a:t>
            </a:r>
            <a:r>
              <a:rPr sz="1400" dirty="0">
                <a:latin typeface="Consolas"/>
              </a:rPr>
              <a:t>=50)          # Transaction, Distribution</a:t>
            </a:r>
            <a:br>
              <a:rPr sz="4800" dirty="0"/>
            </a:br>
            <a:r>
              <a:rPr sz="1400" dirty="0">
                <a:latin typeface="Consolas"/>
              </a:rPr>
              <a:t>    </a:t>
            </a:r>
            <a:r>
              <a:rPr sz="1400" dirty="0" err="1">
                <a:latin typeface="Consolas"/>
              </a:rPr>
              <a:t>entity_id</a:t>
            </a:r>
            <a:r>
              <a:rPr sz="1400" dirty="0">
                <a:latin typeface="Consolas"/>
              </a:rPr>
              <a:t> = </a:t>
            </a:r>
            <a:r>
              <a:rPr sz="1400" dirty="0" err="1">
                <a:latin typeface="Consolas"/>
              </a:rPr>
              <a:t>models.PositiveIntegerField</a:t>
            </a:r>
            <a:r>
              <a:rPr sz="1400" dirty="0">
                <a:latin typeface="Consolas"/>
              </a:rPr>
              <a:t>()</a:t>
            </a:r>
            <a:br>
              <a:rPr sz="4800" dirty="0"/>
            </a:br>
            <a:r>
              <a:rPr sz="1400" dirty="0">
                <a:latin typeface="Consolas"/>
              </a:rPr>
              <a:t>    timestamp = </a:t>
            </a:r>
            <a:r>
              <a:rPr sz="1400" dirty="0" err="1">
                <a:latin typeface="Consolas"/>
              </a:rPr>
              <a:t>models.DateTimeField</a:t>
            </a:r>
            <a:r>
              <a:rPr sz="1400" dirty="0">
                <a:latin typeface="Consolas"/>
              </a:rPr>
              <a:t>(</a:t>
            </a:r>
            <a:r>
              <a:rPr sz="1400" dirty="0" err="1">
                <a:latin typeface="Consolas"/>
              </a:rPr>
              <a:t>auto_now_add</a:t>
            </a:r>
            <a:r>
              <a:rPr sz="1400" dirty="0">
                <a:latin typeface="Consolas"/>
              </a:rPr>
              <a:t>=True)</a:t>
            </a:r>
            <a:br>
              <a:rPr sz="4800" dirty="0"/>
            </a:br>
            <a:r>
              <a:rPr sz="1400" dirty="0">
                <a:latin typeface="Consolas"/>
              </a:rPr>
              <a:t>    payload = </a:t>
            </a:r>
            <a:r>
              <a:rPr sz="1400" dirty="0" err="1">
                <a:latin typeface="Consolas"/>
              </a:rPr>
              <a:t>models.JSONField</a:t>
            </a:r>
            <a:r>
              <a:rPr sz="1400" dirty="0">
                <a:latin typeface="Consolas"/>
              </a:rPr>
              <a:t>(default=</a:t>
            </a:r>
            <a:r>
              <a:rPr sz="1400" dirty="0" err="1">
                <a:latin typeface="Consolas"/>
              </a:rPr>
              <a:t>dict</a:t>
            </a:r>
            <a:r>
              <a:rPr sz="1400" dirty="0">
                <a:latin typeface="Consolas"/>
              </a:rPr>
              <a:t>)               # snapshot before/after</a:t>
            </a:r>
            <a:br>
              <a:rPr sz="4800" dirty="0"/>
            </a:br>
            <a:br>
              <a:rPr sz="4800" dirty="0"/>
            </a:br>
            <a:r>
              <a:rPr sz="1400" dirty="0">
                <a:latin typeface="Consolas"/>
              </a:rPr>
              <a:t>    class Meta:</a:t>
            </a:r>
            <a:br>
              <a:rPr sz="4800" dirty="0"/>
            </a:br>
            <a:r>
              <a:rPr sz="1400" dirty="0">
                <a:latin typeface="Consolas"/>
              </a:rPr>
              <a:t>        ordering = ['-timestamp']</a:t>
            </a:r>
            <a:br>
              <a:rPr sz="4800" dirty="0"/>
            </a:br>
            <a:r>
              <a:rPr sz="1400" dirty="0">
                <a:latin typeface="Consolas"/>
              </a:rPr>
              <a:t>        indexes = [</a:t>
            </a:r>
            <a:r>
              <a:rPr sz="1400" dirty="0" err="1">
                <a:latin typeface="Consolas"/>
              </a:rPr>
              <a:t>models.Index</a:t>
            </a:r>
            <a:r>
              <a:rPr sz="1400" dirty="0">
                <a:latin typeface="Consolas"/>
              </a:rPr>
              <a:t>(fields=['</a:t>
            </a:r>
            <a:r>
              <a:rPr sz="1400" dirty="0" err="1">
                <a:latin typeface="Consolas"/>
              </a:rPr>
              <a:t>entity_type</a:t>
            </a:r>
            <a:r>
              <a:rPr sz="1400" dirty="0">
                <a:latin typeface="Consolas"/>
              </a:rPr>
              <a:t>', '</a:t>
            </a:r>
            <a:r>
              <a:rPr sz="1400" dirty="0" err="1">
                <a:latin typeface="Consolas"/>
              </a:rPr>
              <a:t>entity_id</a:t>
            </a:r>
            <a:r>
              <a:rPr sz="1400" dirty="0">
                <a:latin typeface="Consolas"/>
              </a:rPr>
              <a:t>'])]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Services Layer – The Core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All mutations atomic</a:t>
            </a:r>
          </a:p>
          <a:p>
            <a:r>
              <a:t>Audit on every write</a:t>
            </a:r>
          </a:p>
          <a:p>
            <a:r>
              <a:t>Offline support via client_temp_id</a:t>
            </a:r>
          </a:p>
          <a:p>
            <a:r>
              <a:t>No direct model saves outside services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utils.py – Number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8066315" cy="45259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endParaRPr sz="4800" dirty="0"/>
          </a:p>
          <a:p>
            <a:pPr marL="0" indent="0">
              <a:buNone/>
            </a:pPr>
            <a:r>
              <a:rPr sz="1400" dirty="0">
                <a:latin typeface="Consolas"/>
              </a:rPr>
              <a:t>from datetime import datetime</a:t>
            </a:r>
            <a:br>
              <a:rPr sz="4800" dirty="0"/>
            </a:br>
            <a:br>
              <a:rPr sz="4800" dirty="0"/>
            </a:br>
            <a:r>
              <a:rPr sz="1400" dirty="0">
                <a:latin typeface="Consolas"/>
              </a:rPr>
              <a:t>def </a:t>
            </a:r>
            <a:r>
              <a:rPr sz="1400" dirty="0" err="1">
                <a:latin typeface="Consolas"/>
              </a:rPr>
              <a:t>generate_number</a:t>
            </a:r>
            <a:r>
              <a:rPr sz="1400" dirty="0">
                <a:latin typeface="Consolas"/>
              </a:rPr>
              <a:t>(prefix: str) -&gt; str:</a:t>
            </a:r>
            <a:br>
              <a:rPr sz="4800" dirty="0"/>
            </a:br>
            <a:r>
              <a:rPr sz="1400" dirty="0">
                <a:latin typeface="Consolas"/>
              </a:rPr>
              <a:t>    now = </a:t>
            </a:r>
            <a:r>
              <a:rPr sz="1400" dirty="0" err="1">
                <a:latin typeface="Consolas"/>
              </a:rPr>
              <a:t>datetime.now</a:t>
            </a:r>
            <a:r>
              <a:rPr sz="1400" dirty="0">
                <a:latin typeface="Consolas"/>
              </a:rPr>
              <a:t>()</a:t>
            </a:r>
            <a:br>
              <a:rPr sz="4800" dirty="0"/>
            </a:br>
            <a:r>
              <a:rPr sz="1400" dirty="0">
                <a:latin typeface="Consolas"/>
              </a:rPr>
              <a:t>    return f"{prefix}-{</a:t>
            </a:r>
            <a:r>
              <a:rPr sz="1400" dirty="0" err="1">
                <a:latin typeface="Consolas"/>
              </a:rPr>
              <a:t>now.year</a:t>
            </a:r>
            <a:r>
              <a:rPr sz="1400" dirty="0">
                <a:latin typeface="Consolas"/>
              </a:rPr>
              <a:t>}-{</a:t>
            </a:r>
            <a:r>
              <a:rPr sz="1400" dirty="0" err="1">
                <a:latin typeface="Consolas"/>
              </a:rPr>
              <a:t>now.strftime</a:t>
            </a:r>
            <a:r>
              <a:rPr sz="1400" dirty="0">
                <a:latin typeface="Consolas"/>
              </a:rPr>
              <a:t>('%j')}-{</a:t>
            </a:r>
            <a:r>
              <a:rPr sz="1400" dirty="0" err="1">
                <a:latin typeface="Consolas"/>
              </a:rPr>
              <a:t>now.strftime</a:t>
            </a:r>
            <a:r>
              <a:rPr sz="1400" dirty="0">
                <a:latin typeface="Consolas"/>
              </a:rPr>
              <a:t>('%H%M%S')}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audit/services.py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6571" y="1600200"/>
            <a:ext cx="8588829" cy="4256314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sz="2400" dirty="0">
                <a:latin typeface="Consolas"/>
              </a:rPr>
              <a:t>@transaction.atomic</a:t>
            </a:r>
            <a:br>
              <a:rPr sz="7200" dirty="0"/>
            </a:br>
            <a:r>
              <a:rPr sz="2400" dirty="0">
                <a:latin typeface="Consolas"/>
              </a:rPr>
              <a:t>def </a:t>
            </a:r>
            <a:r>
              <a:rPr sz="2400" dirty="0" err="1">
                <a:latin typeface="Consolas"/>
              </a:rPr>
              <a:t>log_action</a:t>
            </a:r>
            <a:r>
              <a:rPr sz="2400" dirty="0">
                <a:latin typeface="Consolas"/>
              </a:rPr>
              <a:t>(user, action: str, </a:t>
            </a:r>
            <a:r>
              <a:rPr sz="2400" dirty="0" err="1">
                <a:latin typeface="Consolas"/>
              </a:rPr>
              <a:t>entity_type</a:t>
            </a:r>
            <a:r>
              <a:rPr sz="2400" dirty="0">
                <a:latin typeface="Consolas"/>
              </a:rPr>
              <a:t>: </a:t>
            </a:r>
            <a:endParaRPr lang="en-SG" sz="2400" dirty="0">
              <a:latin typeface="Consolas"/>
            </a:endParaRPr>
          </a:p>
          <a:p>
            <a:pPr marL="0" indent="0">
              <a:buNone/>
            </a:pPr>
            <a:r>
              <a:rPr lang="en-SG" sz="2400" dirty="0">
                <a:latin typeface="Consolas"/>
              </a:rPr>
              <a:t>	</a:t>
            </a:r>
            <a:r>
              <a:rPr sz="2400" dirty="0">
                <a:latin typeface="Consolas"/>
              </a:rPr>
              <a:t>str, </a:t>
            </a:r>
            <a:r>
              <a:rPr sz="2400" dirty="0" err="1">
                <a:latin typeface="Consolas"/>
              </a:rPr>
              <a:t>entity_id</a:t>
            </a:r>
            <a:r>
              <a:rPr sz="2400" dirty="0">
                <a:latin typeface="Consolas"/>
              </a:rPr>
              <a:t>: int, payload: </a:t>
            </a:r>
            <a:r>
              <a:rPr sz="2400" dirty="0" err="1">
                <a:latin typeface="Consolas"/>
              </a:rPr>
              <a:t>dict</a:t>
            </a:r>
            <a:r>
              <a:rPr sz="2400" dirty="0">
                <a:latin typeface="Consolas"/>
              </a:rPr>
              <a:t>):</a:t>
            </a:r>
            <a:br>
              <a:rPr sz="7200" dirty="0"/>
            </a:br>
            <a:r>
              <a:rPr sz="2400" dirty="0">
                <a:latin typeface="Consolas"/>
              </a:rPr>
              <a:t>    </a:t>
            </a:r>
            <a:endParaRPr lang="en-SG" sz="2400" dirty="0">
              <a:latin typeface="Consolas"/>
            </a:endParaRPr>
          </a:p>
          <a:p>
            <a:pPr marL="0" indent="0">
              <a:buNone/>
            </a:pPr>
            <a:r>
              <a:rPr lang="en-SG" sz="2400" dirty="0">
                <a:latin typeface="Consolas"/>
              </a:rPr>
              <a:t>	</a:t>
            </a:r>
            <a:r>
              <a:rPr sz="2400" dirty="0" err="1">
                <a:latin typeface="Consolas"/>
              </a:rPr>
              <a:t>AuditLog.objects.create</a:t>
            </a:r>
            <a:r>
              <a:rPr sz="2400" dirty="0">
                <a:latin typeface="Consolas"/>
              </a:rPr>
              <a:t>(</a:t>
            </a:r>
            <a:br>
              <a:rPr sz="7200" dirty="0"/>
            </a:br>
            <a:r>
              <a:rPr sz="2400" dirty="0">
                <a:latin typeface="Consolas"/>
              </a:rPr>
              <a:t>        user=user,</a:t>
            </a:r>
            <a:br>
              <a:rPr sz="7200" dirty="0"/>
            </a:br>
            <a:r>
              <a:rPr sz="2400" dirty="0">
                <a:latin typeface="Consolas"/>
              </a:rPr>
              <a:t>        action=action,</a:t>
            </a:r>
            <a:br>
              <a:rPr sz="7200" dirty="0"/>
            </a:br>
            <a:r>
              <a:rPr sz="2400" dirty="0">
                <a:latin typeface="Consolas"/>
              </a:rPr>
              <a:t>        </a:t>
            </a:r>
            <a:r>
              <a:rPr sz="2400" dirty="0" err="1">
                <a:latin typeface="Consolas"/>
              </a:rPr>
              <a:t>entity_type</a:t>
            </a:r>
            <a:r>
              <a:rPr sz="2400" dirty="0">
                <a:latin typeface="Consolas"/>
              </a:rPr>
              <a:t>=</a:t>
            </a:r>
            <a:r>
              <a:rPr sz="2400" dirty="0" err="1">
                <a:latin typeface="Consolas"/>
              </a:rPr>
              <a:t>entity_type</a:t>
            </a:r>
            <a:r>
              <a:rPr sz="2400" dirty="0">
                <a:latin typeface="Consolas"/>
              </a:rPr>
              <a:t>,</a:t>
            </a:r>
            <a:br>
              <a:rPr sz="7200" dirty="0"/>
            </a:br>
            <a:r>
              <a:rPr sz="2400" dirty="0">
                <a:latin typeface="Consolas"/>
              </a:rPr>
              <a:t>        </a:t>
            </a:r>
            <a:r>
              <a:rPr sz="2400" dirty="0" err="1">
                <a:latin typeface="Consolas"/>
              </a:rPr>
              <a:t>entity_id</a:t>
            </a:r>
            <a:r>
              <a:rPr sz="2400" dirty="0">
                <a:latin typeface="Consolas"/>
              </a:rPr>
              <a:t>=</a:t>
            </a:r>
            <a:r>
              <a:rPr sz="2400" dirty="0" err="1">
                <a:latin typeface="Consolas"/>
              </a:rPr>
              <a:t>entity_id</a:t>
            </a:r>
            <a:r>
              <a:rPr sz="2400" dirty="0">
                <a:latin typeface="Consolas"/>
              </a:rPr>
              <a:t>,</a:t>
            </a:r>
            <a:br>
              <a:rPr sz="7200" dirty="0"/>
            </a:br>
            <a:r>
              <a:rPr sz="2400" dirty="0">
                <a:latin typeface="Consolas"/>
              </a:rPr>
              <a:t>        payload=payload</a:t>
            </a:r>
            <a:br>
              <a:rPr sz="7200" dirty="0"/>
            </a:br>
            <a:r>
              <a:rPr sz="2400" dirty="0">
                <a:latin typeface="Consolas"/>
              </a:rPr>
              <a:t>    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distribution/services.py – create_distribution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714" y="1905000"/>
            <a:ext cx="8708572" cy="42211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sz="1400" dirty="0">
                <a:latin typeface="Consolas"/>
              </a:rPr>
              <a:t>@transaction.atomic</a:t>
            </a:r>
            <a:br>
              <a:rPr sz="4800" dirty="0"/>
            </a:br>
            <a:r>
              <a:rPr sz="1400" dirty="0">
                <a:latin typeface="Consolas"/>
              </a:rPr>
              <a:t>def </a:t>
            </a:r>
            <a:r>
              <a:rPr sz="1400" dirty="0" err="1">
                <a:latin typeface="Consolas"/>
              </a:rPr>
              <a:t>create_distribution</a:t>
            </a:r>
            <a:r>
              <a:rPr sz="1400" dirty="0">
                <a:latin typeface="Consolas"/>
              </a:rPr>
              <a:t>(user, </a:t>
            </a:r>
            <a:r>
              <a:rPr sz="1400" dirty="0" err="1">
                <a:latin typeface="Consolas"/>
              </a:rPr>
              <a:t>depot_id</a:t>
            </a:r>
            <a:r>
              <a:rPr sz="1400" dirty="0">
                <a:latin typeface="Consolas"/>
              </a:rPr>
              <a:t>: int, items: list[</a:t>
            </a:r>
            <a:r>
              <a:rPr sz="1400" dirty="0" err="1">
                <a:latin typeface="Consolas"/>
              </a:rPr>
              <a:t>dict</a:t>
            </a:r>
            <a:r>
              <a:rPr sz="1400" dirty="0">
                <a:latin typeface="Consolas"/>
              </a:rPr>
              <a:t>], remarks: str = None):</a:t>
            </a:r>
            <a:br>
              <a:rPr sz="4800" dirty="0"/>
            </a:br>
            <a:r>
              <a:rPr sz="1400" dirty="0">
                <a:latin typeface="Consolas"/>
              </a:rPr>
              <a:t>    </a:t>
            </a:r>
            <a:r>
              <a:rPr sz="1400" dirty="0" err="1">
                <a:latin typeface="Consolas"/>
              </a:rPr>
              <a:t>dist</a:t>
            </a:r>
            <a:r>
              <a:rPr sz="1400" dirty="0">
                <a:latin typeface="Consolas"/>
              </a:rPr>
              <a:t> = </a:t>
            </a:r>
            <a:r>
              <a:rPr sz="1400" dirty="0" err="1">
                <a:latin typeface="Consolas"/>
              </a:rPr>
              <a:t>Distribution.objects.create</a:t>
            </a:r>
            <a:r>
              <a:rPr sz="1400" dirty="0">
                <a:latin typeface="Consolas"/>
              </a:rPr>
              <a:t>(</a:t>
            </a:r>
            <a:br>
              <a:rPr sz="4800" dirty="0"/>
            </a:br>
            <a:r>
              <a:rPr sz="1400" dirty="0">
                <a:latin typeface="Consolas"/>
              </a:rPr>
              <a:t>        user=user,</a:t>
            </a:r>
            <a:br>
              <a:rPr sz="4800" dirty="0"/>
            </a:br>
            <a:r>
              <a:rPr sz="1400" dirty="0">
                <a:latin typeface="Consolas"/>
              </a:rPr>
              <a:t>        </a:t>
            </a:r>
            <a:r>
              <a:rPr sz="1400" dirty="0" err="1">
                <a:latin typeface="Consolas"/>
              </a:rPr>
              <a:t>distribution_number</a:t>
            </a:r>
            <a:r>
              <a:rPr sz="1400" dirty="0">
                <a:latin typeface="Consolas"/>
              </a:rPr>
              <a:t>=</a:t>
            </a:r>
            <a:r>
              <a:rPr sz="1400" dirty="0" err="1">
                <a:latin typeface="Consolas"/>
              </a:rPr>
              <a:t>generate_number</a:t>
            </a:r>
            <a:r>
              <a:rPr sz="1400" dirty="0">
                <a:latin typeface="Consolas"/>
              </a:rPr>
              <a:t>('DIST'),</a:t>
            </a:r>
            <a:br>
              <a:rPr sz="4800" dirty="0"/>
            </a:br>
            <a:r>
              <a:rPr sz="1400" dirty="0">
                <a:latin typeface="Consolas"/>
              </a:rPr>
              <a:t>        status='Pending',</a:t>
            </a:r>
            <a:br>
              <a:rPr sz="4800" dirty="0"/>
            </a:br>
            <a:r>
              <a:rPr sz="1400" dirty="0">
                <a:latin typeface="Consolas"/>
              </a:rPr>
              <a:t>        remarks=remarks</a:t>
            </a:r>
            <a:br>
              <a:rPr sz="4800" dirty="0"/>
            </a:br>
            <a:r>
              <a:rPr sz="1400" dirty="0">
                <a:latin typeface="Consolas"/>
              </a:rPr>
              <a:t>    )</a:t>
            </a:r>
            <a:br>
              <a:rPr sz="4800" dirty="0"/>
            </a:br>
            <a:r>
              <a:rPr sz="1400" dirty="0">
                <a:latin typeface="Consolas"/>
              </a:rPr>
              <a:t>    for item in items:</a:t>
            </a:r>
            <a:br>
              <a:rPr sz="4800" dirty="0"/>
            </a:br>
            <a:r>
              <a:rPr sz="1400" dirty="0">
                <a:latin typeface="Consolas"/>
              </a:rPr>
              <a:t>        </a:t>
            </a:r>
            <a:r>
              <a:rPr sz="1400" dirty="0" err="1">
                <a:latin typeface="Consolas"/>
              </a:rPr>
              <a:t>DistributionItem.objects.create</a:t>
            </a:r>
            <a:r>
              <a:rPr sz="1400" dirty="0">
                <a:latin typeface="Consolas"/>
              </a:rPr>
              <a:t>(</a:t>
            </a:r>
            <a:br>
              <a:rPr sz="4800" dirty="0"/>
            </a:br>
            <a:r>
              <a:rPr sz="1400" dirty="0">
                <a:latin typeface="Consolas"/>
              </a:rPr>
              <a:t>            distribution=</a:t>
            </a:r>
            <a:r>
              <a:rPr sz="1400" dirty="0" err="1">
                <a:latin typeface="Consolas"/>
              </a:rPr>
              <a:t>dist</a:t>
            </a:r>
            <a:r>
              <a:rPr sz="1400" dirty="0">
                <a:latin typeface="Consolas"/>
              </a:rPr>
              <a:t>,</a:t>
            </a:r>
            <a:br>
              <a:rPr sz="4800" dirty="0"/>
            </a:br>
            <a:r>
              <a:rPr sz="1400" dirty="0">
                <a:latin typeface="Consolas"/>
              </a:rPr>
              <a:t>            </a:t>
            </a:r>
            <a:r>
              <a:rPr sz="1400" dirty="0" err="1">
                <a:latin typeface="Consolas"/>
              </a:rPr>
              <a:t>depot_id</a:t>
            </a:r>
            <a:r>
              <a:rPr sz="1400" dirty="0">
                <a:latin typeface="Consolas"/>
              </a:rPr>
              <a:t>=</a:t>
            </a:r>
            <a:r>
              <a:rPr sz="1400" dirty="0" err="1">
                <a:latin typeface="Consolas"/>
              </a:rPr>
              <a:t>depot_id</a:t>
            </a:r>
            <a:r>
              <a:rPr sz="1400" dirty="0">
                <a:latin typeface="Consolas"/>
              </a:rPr>
              <a:t>,</a:t>
            </a:r>
            <a:br>
              <a:rPr sz="4800" dirty="0"/>
            </a:br>
            <a:r>
              <a:rPr sz="1400" dirty="0">
                <a:latin typeface="Consolas"/>
              </a:rPr>
              <a:t>            </a:t>
            </a:r>
            <a:r>
              <a:rPr sz="1400" dirty="0" err="1">
                <a:latin typeface="Consolas"/>
              </a:rPr>
              <a:t>equipment_id</a:t>
            </a:r>
            <a:r>
              <a:rPr sz="1400" dirty="0">
                <a:latin typeface="Consolas"/>
              </a:rPr>
              <a:t>=item['</a:t>
            </a:r>
            <a:r>
              <a:rPr sz="1400" dirty="0" err="1">
                <a:latin typeface="Consolas"/>
              </a:rPr>
              <a:t>equipment_id</a:t>
            </a:r>
            <a:r>
              <a:rPr sz="1400" dirty="0">
                <a:latin typeface="Consolas"/>
              </a:rPr>
              <a:t>'],</a:t>
            </a:r>
            <a:br>
              <a:rPr sz="4800" dirty="0"/>
            </a:br>
            <a:r>
              <a:rPr sz="1400" dirty="0">
                <a:latin typeface="Consolas"/>
              </a:rPr>
              <a:t>            quantity=item['quantity'],</a:t>
            </a:r>
            <a:br>
              <a:rPr sz="4800" dirty="0"/>
            </a:br>
            <a:r>
              <a:rPr sz="1400" dirty="0">
                <a:latin typeface="Consolas"/>
              </a:rPr>
              <a:t>            </a:t>
            </a:r>
            <a:r>
              <a:rPr sz="1400" dirty="0" err="1">
                <a:latin typeface="Consolas"/>
              </a:rPr>
              <a:t>movement_type</a:t>
            </a:r>
            <a:r>
              <a:rPr sz="1400" dirty="0">
                <a:latin typeface="Consolas"/>
              </a:rPr>
              <a:t>=item['</a:t>
            </a:r>
            <a:r>
              <a:rPr sz="1400" dirty="0" err="1">
                <a:latin typeface="Consolas"/>
              </a:rPr>
              <a:t>movement_type</a:t>
            </a:r>
            <a:r>
              <a:rPr sz="1400" dirty="0">
                <a:latin typeface="Consolas"/>
              </a:rPr>
              <a:t>']</a:t>
            </a:r>
            <a:br>
              <a:rPr sz="4800" dirty="0"/>
            </a:br>
            <a:r>
              <a:rPr sz="1400" dirty="0">
                <a:latin typeface="Consolas"/>
              </a:rPr>
              <a:t>        )</a:t>
            </a:r>
            <a:br>
              <a:rPr sz="4800" dirty="0"/>
            </a:br>
            <a:r>
              <a:rPr sz="1400" dirty="0">
                <a:latin typeface="Consolas"/>
              </a:rPr>
              <a:t>    </a:t>
            </a:r>
            <a:r>
              <a:rPr sz="1400" dirty="0" err="1">
                <a:latin typeface="Consolas"/>
              </a:rPr>
              <a:t>log_action</a:t>
            </a:r>
            <a:r>
              <a:rPr sz="1400" dirty="0">
                <a:latin typeface="Consolas"/>
              </a:rPr>
              <a:t>(user, 'Create', 'Distribution', dist.id, {'items': items})</a:t>
            </a:r>
            <a:br>
              <a:rPr sz="4800" dirty="0"/>
            </a:br>
            <a:r>
              <a:rPr sz="1400" dirty="0">
                <a:latin typeface="Consolas"/>
              </a:rPr>
              <a:t>    return </a:t>
            </a:r>
            <a:r>
              <a:rPr sz="1400" dirty="0" err="1">
                <a:latin typeface="Consolas"/>
              </a:rPr>
              <a:t>dist</a:t>
            </a:r>
            <a:endParaRPr sz="1400" dirty="0">
              <a:latin typeface="Consola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distribution/services.py – confirm_distribution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02971"/>
            <a:ext cx="8229600" cy="4123192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sz="1200" dirty="0">
                <a:latin typeface="Consolas"/>
              </a:rPr>
              <a:t>@transaction.atomic</a:t>
            </a:r>
            <a:br>
              <a:rPr sz="4400" dirty="0"/>
            </a:br>
            <a:r>
              <a:rPr sz="1200" dirty="0">
                <a:latin typeface="Consolas"/>
              </a:rPr>
              <a:t>def </a:t>
            </a:r>
            <a:r>
              <a:rPr sz="1200" dirty="0" err="1">
                <a:latin typeface="Consolas"/>
              </a:rPr>
              <a:t>confirm_distribution</a:t>
            </a:r>
            <a:r>
              <a:rPr sz="1200" dirty="0">
                <a:latin typeface="Consolas"/>
              </a:rPr>
              <a:t>(</a:t>
            </a:r>
            <a:r>
              <a:rPr sz="1200" dirty="0" err="1">
                <a:latin typeface="Consolas"/>
              </a:rPr>
              <a:t>distribution_id</a:t>
            </a:r>
            <a:r>
              <a:rPr sz="1200" dirty="0">
                <a:latin typeface="Consolas"/>
              </a:rPr>
              <a:t>: int, user):</a:t>
            </a:r>
            <a:br>
              <a:rPr sz="4400" dirty="0"/>
            </a:br>
            <a:r>
              <a:rPr sz="1200" dirty="0">
                <a:latin typeface="Consolas"/>
              </a:rPr>
              <a:t>    </a:t>
            </a:r>
            <a:r>
              <a:rPr sz="1200" dirty="0" err="1">
                <a:latin typeface="Consolas"/>
              </a:rPr>
              <a:t>dist</a:t>
            </a:r>
            <a:r>
              <a:rPr sz="1200" dirty="0">
                <a:latin typeface="Consolas"/>
              </a:rPr>
              <a:t> = </a:t>
            </a:r>
            <a:r>
              <a:rPr sz="1200" dirty="0" err="1">
                <a:latin typeface="Consolas"/>
              </a:rPr>
              <a:t>Distribution.objects.select_for_update</a:t>
            </a:r>
            <a:r>
              <a:rPr sz="1200" dirty="0">
                <a:latin typeface="Consolas"/>
              </a:rPr>
              <a:t>().get(id=</a:t>
            </a:r>
            <a:r>
              <a:rPr sz="1200" dirty="0" err="1">
                <a:latin typeface="Consolas"/>
              </a:rPr>
              <a:t>distribution_id</a:t>
            </a:r>
            <a:r>
              <a:rPr sz="1200" dirty="0">
                <a:latin typeface="Consolas"/>
              </a:rPr>
              <a:t>)</a:t>
            </a:r>
            <a:br>
              <a:rPr sz="4400" dirty="0"/>
            </a:br>
            <a:r>
              <a:rPr sz="1200" dirty="0">
                <a:latin typeface="Consolas"/>
              </a:rPr>
              <a:t>    if </a:t>
            </a:r>
            <a:r>
              <a:rPr sz="1200" dirty="0" err="1">
                <a:latin typeface="Consolas"/>
              </a:rPr>
              <a:t>dist.status</a:t>
            </a:r>
            <a:r>
              <a:rPr sz="1200" dirty="0">
                <a:latin typeface="Consolas"/>
              </a:rPr>
              <a:t> == 'Confirmed':</a:t>
            </a:r>
            <a:br>
              <a:rPr sz="4400" dirty="0"/>
            </a:br>
            <a:r>
              <a:rPr sz="1200" dirty="0">
                <a:latin typeface="Consolas"/>
              </a:rPr>
              <a:t>        raise </a:t>
            </a:r>
            <a:r>
              <a:rPr sz="1200" dirty="0" err="1">
                <a:latin typeface="Consolas"/>
              </a:rPr>
              <a:t>ValueError</a:t>
            </a:r>
            <a:r>
              <a:rPr sz="1200" dirty="0">
                <a:latin typeface="Consolas"/>
              </a:rPr>
              <a:t>("Already confirmed")</a:t>
            </a:r>
            <a:br>
              <a:rPr sz="4400" dirty="0"/>
            </a:br>
            <a:r>
              <a:rPr sz="1200" dirty="0">
                <a:latin typeface="Consolas"/>
              </a:rPr>
              <a:t>    </a:t>
            </a:r>
            <a:br>
              <a:rPr sz="4400" dirty="0"/>
            </a:br>
            <a:r>
              <a:rPr sz="1200" dirty="0">
                <a:latin typeface="Consolas"/>
              </a:rPr>
              <a:t>    </a:t>
            </a:r>
            <a:r>
              <a:rPr sz="1200" dirty="0" err="1">
                <a:latin typeface="Consolas"/>
              </a:rPr>
              <a:t>dist.status</a:t>
            </a:r>
            <a:r>
              <a:rPr sz="1200" dirty="0">
                <a:latin typeface="Consolas"/>
              </a:rPr>
              <a:t> = 'Confirmed'</a:t>
            </a:r>
            <a:br>
              <a:rPr sz="4400" dirty="0"/>
            </a:br>
            <a:r>
              <a:rPr sz="1200" dirty="0">
                <a:latin typeface="Consolas"/>
              </a:rPr>
              <a:t>    </a:t>
            </a:r>
            <a:r>
              <a:rPr sz="1200" dirty="0" err="1">
                <a:latin typeface="Consolas"/>
              </a:rPr>
              <a:t>dist.confirmed_at</a:t>
            </a:r>
            <a:r>
              <a:rPr sz="1200" dirty="0">
                <a:latin typeface="Consolas"/>
              </a:rPr>
              <a:t> = </a:t>
            </a:r>
            <a:r>
              <a:rPr sz="1200" dirty="0" err="1">
                <a:latin typeface="Consolas"/>
              </a:rPr>
              <a:t>timezone.now</a:t>
            </a:r>
            <a:r>
              <a:rPr sz="1200" dirty="0">
                <a:latin typeface="Consolas"/>
              </a:rPr>
              <a:t>()</a:t>
            </a:r>
            <a:br>
              <a:rPr sz="4400" dirty="0"/>
            </a:br>
            <a:r>
              <a:rPr sz="1200" dirty="0">
                <a:latin typeface="Consolas"/>
              </a:rPr>
              <a:t>    </a:t>
            </a:r>
            <a:r>
              <a:rPr sz="1200" dirty="0" err="1">
                <a:latin typeface="Consolas"/>
              </a:rPr>
              <a:t>dist.save</a:t>
            </a:r>
            <a:r>
              <a:rPr sz="1200" dirty="0">
                <a:latin typeface="Consolas"/>
              </a:rPr>
              <a:t>(</a:t>
            </a:r>
            <a:r>
              <a:rPr sz="1200" dirty="0" err="1">
                <a:latin typeface="Consolas"/>
              </a:rPr>
              <a:t>update_fields</a:t>
            </a:r>
            <a:r>
              <a:rPr sz="1200" dirty="0">
                <a:latin typeface="Consolas"/>
              </a:rPr>
              <a:t>=['status', '</a:t>
            </a:r>
            <a:r>
              <a:rPr sz="1200" dirty="0" err="1">
                <a:latin typeface="Consolas"/>
              </a:rPr>
              <a:t>confirmed_at</a:t>
            </a:r>
            <a:r>
              <a:rPr sz="1200" dirty="0">
                <a:latin typeface="Consolas"/>
              </a:rPr>
              <a:t>'])</a:t>
            </a:r>
            <a:br>
              <a:rPr sz="4400" dirty="0"/>
            </a:br>
            <a:r>
              <a:rPr sz="1200" dirty="0">
                <a:latin typeface="Consolas"/>
              </a:rPr>
              <a:t>    </a:t>
            </a:r>
            <a:br>
              <a:rPr sz="4400" dirty="0"/>
            </a:br>
            <a:r>
              <a:rPr sz="1200" dirty="0">
                <a:latin typeface="Consolas"/>
              </a:rPr>
              <a:t>    for item in </a:t>
            </a:r>
            <a:r>
              <a:rPr sz="1200" dirty="0" err="1">
                <a:latin typeface="Consolas"/>
              </a:rPr>
              <a:t>dist.items.all</a:t>
            </a:r>
            <a:r>
              <a:rPr sz="1200" dirty="0">
                <a:latin typeface="Consolas"/>
              </a:rPr>
              <a:t>():</a:t>
            </a:r>
            <a:br>
              <a:rPr sz="4400" dirty="0"/>
            </a:br>
            <a:r>
              <a:rPr sz="1200" dirty="0">
                <a:latin typeface="Consolas"/>
              </a:rPr>
              <a:t>        inv = </a:t>
            </a:r>
            <a:r>
              <a:rPr sz="1200" dirty="0" err="1">
                <a:latin typeface="Consolas"/>
              </a:rPr>
              <a:t>DepotInventory.objects.select_for_update</a:t>
            </a:r>
            <a:r>
              <a:rPr sz="1200" dirty="0">
                <a:latin typeface="Consolas"/>
              </a:rPr>
              <a:t>().get(</a:t>
            </a:r>
            <a:br>
              <a:rPr sz="4400" dirty="0"/>
            </a:br>
            <a:r>
              <a:rPr sz="1200" dirty="0">
                <a:latin typeface="Consolas"/>
              </a:rPr>
              <a:t>            </a:t>
            </a:r>
            <a:r>
              <a:rPr sz="1200" dirty="0" err="1">
                <a:latin typeface="Consolas"/>
              </a:rPr>
              <a:t>depot_id</a:t>
            </a:r>
            <a:r>
              <a:rPr sz="1200" dirty="0">
                <a:latin typeface="Consolas"/>
              </a:rPr>
              <a:t>=</a:t>
            </a:r>
            <a:r>
              <a:rPr sz="1200" dirty="0" err="1">
                <a:latin typeface="Consolas"/>
              </a:rPr>
              <a:t>item.depot_id</a:t>
            </a:r>
            <a:r>
              <a:rPr sz="1200" dirty="0">
                <a:latin typeface="Consolas"/>
              </a:rPr>
              <a:t>, </a:t>
            </a:r>
            <a:r>
              <a:rPr sz="1200" dirty="0" err="1">
                <a:latin typeface="Consolas"/>
              </a:rPr>
              <a:t>equipment_id</a:t>
            </a:r>
            <a:r>
              <a:rPr sz="1200" dirty="0">
                <a:latin typeface="Consolas"/>
              </a:rPr>
              <a:t>=</a:t>
            </a:r>
            <a:r>
              <a:rPr sz="1200" dirty="0" err="1">
                <a:latin typeface="Consolas"/>
              </a:rPr>
              <a:t>item.equipment_id</a:t>
            </a:r>
            <a:br>
              <a:rPr sz="4400" dirty="0"/>
            </a:br>
            <a:r>
              <a:rPr sz="1200" dirty="0">
                <a:latin typeface="Consolas"/>
              </a:rPr>
              <a:t>        )</a:t>
            </a:r>
            <a:br>
              <a:rPr sz="4400" dirty="0"/>
            </a:br>
            <a:r>
              <a:rPr sz="1200" dirty="0">
                <a:latin typeface="Consolas"/>
              </a:rPr>
              <a:t>        delta = </a:t>
            </a:r>
            <a:r>
              <a:rPr sz="1200" dirty="0" err="1">
                <a:latin typeface="Consolas"/>
              </a:rPr>
              <a:t>item.quantity</a:t>
            </a:r>
            <a:r>
              <a:rPr sz="1200" dirty="0">
                <a:latin typeface="Consolas"/>
              </a:rPr>
              <a:t> if </a:t>
            </a:r>
            <a:r>
              <a:rPr sz="1200" dirty="0" err="1">
                <a:latin typeface="Consolas"/>
              </a:rPr>
              <a:t>item.movement_type</a:t>
            </a:r>
            <a:r>
              <a:rPr sz="1200" dirty="0">
                <a:latin typeface="Consolas"/>
              </a:rPr>
              <a:t> == 'Empty Return' else -</a:t>
            </a:r>
            <a:r>
              <a:rPr sz="1200" dirty="0" err="1">
                <a:latin typeface="Consolas"/>
              </a:rPr>
              <a:t>item.quantity</a:t>
            </a:r>
            <a:br>
              <a:rPr sz="4400" dirty="0"/>
            </a:br>
            <a:r>
              <a:rPr sz="1200" dirty="0">
                <a:latin typeface="Consolas"/>
              </a:rPr>
              <a:t>        </a:t>
            </a:r>
            <a:r>
              <a:rPr sz="1200" dirty="0" err="1">
                <a:latin typeface="Consolas"/>
              </a:rPr>
              <a:t>inv.quantity</a:t>
            </a:r>
            <a:r>
              <a:rPr sz="1200" dirty="0">
                <a:latin typeface="Consolas"/>
              </a:rPr>
              <a:t> = F('quantity') + delta</a:t>
            </a:r>
            <a:br>
              <a:rPr sz="4400" dirty="0"/>
            </a:br>
            <a:r>
              <a:rPr sz="1200" dirty="0">
                <a:latin typeface="Consolas"/>
              </a:rPr>
              <a:t>        </a:t>
            </a:r>
            <a:r>
              <a:rPr sz="1200" dirty="0" err="1">
                <a:latin typeface="Consolas"/>
              </a:rPr>
              <a:t>inv.save</a:t>
            </a:r>
            <a:r>
              <a:rPr sz="1200" dirty="0">
                <a:latin typeface="Consolas"/>
              </a:rPr>
              <a:t>(</a:t>
            </a:r>
            <a:r>
              <a:rPr sz="1200" dirty="0" err="1">
                <a:latin typeface="Consolas"/>
              </a:rPr>
              <a:t>update_fields</a:t>
            </a:r>
            <a:r>
              <a:rPr sz="1200" dirty="0">
                <a:latin typeface="Consolas"/>
              </a:rPr>
              <a:t>=['quantity'])</a:t>
            </a:r>
            <a:br>
              <a:rPr sz="4400" dirty="0"/>
            </a:br>
            <a:r>
              <a:rPr sz="1200" dirty="0">
                <a:latin typeface="Consolas"/>
              </a:rPr>
              <a:t>    </a:t>
            </a:r>
            <a:br>
              <a:rPr sz="4400" dirty="0"/>
            </a:br>
            <a:r>
              <a:rPr sz="1200" dirty="0">
                <a:latin typeface="Consolas"/>
              </a:rPr>
              <a:t>    </a:t>
            </a:r>
            <a:r>
              <a:rPr sz="1200" dirty="0" err="1">
                <a:latin typeface="Consolas"/>
              </a:rPr>
              <a:t>log_action</a:t>
            </a:r>
            <a:r>
              <a:rPr sz="1200" dirty="0">
                <a:latin typeface="Consolas"/>
              </a:rPr>
              <a:t>(user, 'Confirm', 'Distribution', dist.id, {'status': 'Confirmed'})</a:t>
            </a:r>
            <a:br>
              <a:rPr sz="4400" dirty="0"/>
            </a:br>
            <a:r>
              <a:rPr sz="1200" dirty="0">
                <a:latin typeface="Consolas"/>
              </a:rPr>
              <a:t>    return </a:t>
            </a:r>
            <a:r>
              <a:rPr sz="1200" dirty="0" err="1">
                <a:latin typeface="Consolas"/>
              </a:rPr>
              <a:t>dist</a:t>
            </a:r>
            <a:endParaRPr sz="1200" dirty="0">
              <a:latin typeface="Consola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inventory/services.py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rPr sz="1000">
                <a:latin typeface="Consolas"/>
              </a:rPr>
              <a:t>@transaction.atomic</a:t>
            </a:r>
            <a:br/>
            <a:r>
              <a:rPr sz="1000">
                <a:latin typeface="Consolas"/>
              </a:rPr>
              <a:t>def update_inventory(entity: str, entity_id: int, equipment_id: int, delta: int, user):</a:t>
            </a:r>
            <a:br/>
            <a:r>
              <a:rPr sz="1000">
                <a:latin typeface="Consolas"/>
              </a:rPr>
              <a:t>    if entity == 'customer':</a:t>
            </a:r>
            <a:br/>
            <a:r>
              <a:rPr sz="1000">
                <a:latin typeface="Consolas"/>
              </a:rPr>
              <a:t>        inv, _ = CustomerSiteInventory.objects.select_for_update().get_or_create(</a:t>
            </a:r>
            <a:br/>
            <a:r>
              <a:rPr sz="1000">
                <a:latin typeface="Consolas"/>
              </a:rPr>
              <a:t>            customer_id=entity_id, equipment_id=equipment_id</a:t>
            </a:r>
            <a:br/>
            <a:r>
              <a:rPr sz="1000">
                <a:latin typeface="Consolas"/>
              </a:rPr>
              <a:t>        )</a:t>
            </a:r>
            <a:br/>
            <a:r>
              <a:rPr sz="1000">
                <a:latin typeface="Consolas"/>
              </a:rPr>
              <a:t>    else:  # depot</a:t>
            </a:r>
            <a:br/>
            <a:r>
              <a:rPr sz="1000">
                <a:latin typeface="Consolas"/>
              </a:rPr>
              <a:t>        inv, _ = DepotInventory.objects.select_for_update().get_or_create(</a:t>
            </a:r>
            <a:br/>
            <a:r>
              <a:rPr sz="1000">
                <a:latin typeface="Consolas"/>
              </a:rPr>
              <a:t>            depot_id=entity_id, equipment_id=equipment_id</a:t>
            </a:r>
            <a:br/>
            <a:r>
              <a:rPr sz="1000">
                <a:latin typeface="Consolas"/>
              </a:rPr>
              <a:t>        )</a:t>
            </a:r>
            <a:br/>
            <a:r>
              <a:rPr sz="1000">
                <a:latin typeface="Consolas"/>
              </a:rPr>
              <a:t>    </a:t>
            </a:r>
            <a:br/>
            <a:r>
              <a:rPr sz="1000">
                <a:latin typeface="Consolas"/>
              </a:rPr>
              <a:t>    inv.quantity += delta</a:t>
            </a:r>
            <a:br/>
            <a:r>
              <a:rPr sz="1000">
                <a:latin typeface="Consolas"/>
              </a:rPr>
              <a:t>    if inv.quantity &lt; 0:</a:t>
            </a:r>
            <a:br/>
            <a:r>
              <a:rPr sz="1000">
                <a:latin typeface="Consolas"/>
              </a:rPr>
              <a:t>        raise ValueError("Negative inventory not allowed")</a:t>
            </a:r>
            <a:br/>
            <a:r>
              <a:rPr sz="1000">
                <a:latin typeface="Consolas"/>
              </a:rPr>
              <a:t>    </a:t>
            </a:r>
            <a:br/>
            <a:r>
              <a:rPr sz="1000">
                <a:latin typeface="Consolas"/>
              </a:rPr>
              <a:t>    inv.save(update_fields=['quantity'])</a:t>
            </a:r>
            <a:br/>
            <a:r>
              <a:rPr sz="1000">
                <a:latin typeface="Consolas"/>
              </a:rPr>
              <a:t>    log_action(user, 'Update', f'{entity.capitalize()}Inventory', inv.id, {'delta': delta})</a:t>
            </a:r>
            <a:br/>
            <a:r>
              <a:rPr sz="1000">
                <a:latin typeface="Consolas"/>
              </a:rPr>
              <a:t>    return inv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transactions/services.py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endParaRPr/>
          </a:p>
          <a:p>
            <a:r>
              <a:rPr sz="1000">
                <a:latin typeface="Consolas"/>
              </a:rPr>
              <a:t>@transaction.atomic</a:t>
            </a:r>
            <a:br/>
            <a:r>
              <a:rPr sz="1000">
                <a:latin typeface="Consolas"/>
              </a:rPr>
              <a:t>def create_customer_transaction_and_invoice(user, data: dict):</a:t>
            </a:r>
            <a:br/>
            <a:r>
              <a:rPr sz="1000">
                <a:latin typeface="Consolas"/>
              </a:rPr>
              <a:t>    cust = Customer.objects.get(id=data['customer'])</a:t>
            </a:r>
            <a:br/>
            <a:r>
              <a:rPr sz="1000">
                <a:latin typeface="Consolas"/>
              </a:rPr>
              <a:t>    </a:t>
            </a:r>
            <a:br/>
            <a:r>
              <a:rPr sz="1000">
                <a:latin typeface="Consolas"/>
              </a:rPr>
              <a:t>    trx = Transaction.objects.create(</a:t>
            </a:r>
            <a:br/>
            <a:r>
              <a:rPr sz="1000">
                <a:latin typeface="Consolas"/>
              </a:rPr>
              <a:t>        user=user,</a:t>
            </a:r>
            <a:br/>
            <a:r>
              <a:rPr sz="1000">
                <a:latin typeface="Consolas"/>
              </a:rPr>
              <a:t>        customer=cust,</a:t>
            </a:r>
            <a:br/>
            <a:r>
              <a:rPr sz="1000">
                <a:latin typeface="Consolas"/>
              </a:rPr>
              <a:t>        transaction_number=generate_number('TRX'),</a:t>
            </a:r>
            <a:br/>
            <a:r>
              <a:rPr sz="1000">
                <a:latin typeface="Consolas"/>
              </a:rPr>
              <a:t>        status='Pending',</a:t>
            </a:r>
            <a:br/>
            <a:r>
              <a:rPr sz="1000">
                <a:latin typeface="Consolas"/>
              </a:rPr>
              <a:t>        last_meter_reading=cust.last_meter_reading or 0,</a:t>
            </a:r>
            <a:br/>
            <a:r>
              <a:rPr sz="1000">
                <a:latin typeface="Consolas"/>
              </a:rPr>
              <a:t>        current_meter_reading=data['current_meter'],</a:t>
            </a:r>
            <a:br/>
            <a:r>
              <a:rPr sz="1000">
                <a:latin typeface="Consolas"/>
              </a:rPr>
              <a:t>        total_amount=0</a:t>
            </a:r>
            <a:br/>
            <a:r>
              <a:rPr sz="1000">
                <a:latin typeface="Consolas"/>
              </a:rPr>
              <a:t>    )</a:t>
            </a:r>
            <a:br/>
            <a:r>
              <a:rPr sz="1000">
                <a:latin typeface="Consolas"/>
              </a:rPr>
              <a:t>    </a:t>
            </a:r>
            <a:br/>
            <a:r>
              <a:rPr sz="1000">
                <a:latin typeface="Consolas"/>
              </a:rPr>
              <a:t>    total = (trx.current_meter_reading - trx.last_meter_reading) * cust.meter_rate</a:t>
            </a:r>
            <a:br/>
            <a:r>
              <a:rPr sz="1000">
                <a:latin typeface="Consolas"/>
              </a:rPr>
              <a:t>    </a:t>
            </a:r>
            <a:br/>
            <a:r>
              <a:rPr sz="1000">
                <a:latin typeface="Consolas"/>
              </a:rPr>
              <a:t>    for item in data.get('items', []):</a:t>
            </a:r>
            <a:br/>
            <a:r>
              <a:rPr sz="1000">
                <a:latin typeface="Consolas"/>
              </a:rPr>
              <a:t>        TransactionItem.objects.create(</a:t>
            </a:r>
            <a:br/>
            <a:r>
              <a:rPr sz="1000">
                <a:latin typeface="Consolas"/>
              </a:rPr>
              <a:t>            transaction=trx,</a:t>
            </a:r>
            <a:br/>
            <a:r>
              <a:rPr sz="1000">
                <a:latin typeface="Consolas"/>
              </a:rPr>
              <a:t>            equipment_id=item['equipment_id'],</a:t>
            </a:r>
            <a:br/>
            <a:r>
              <a:rPr sz="1000">
                <a:latin typeface="Consolas"/>
              </a:rPr>
              <a:t>            quantity=item['quantity'],</a:t>
            </a:r>
            <a:br/>
            <a:r>
              <a:rPr sz="1000">
                <a:latin typeface="Consolas"/>
              </a:rPr>
              <a:t>            rate=item.get('rate', 0),</a:t>
            </a:r>
            <a:br/>
            <a:r>
              <a:rPr sz="1000">
                <a:latin typeface="Consolas"/>
              </a:rPr>
              <a:t>            item_type=item['type']</a:t>
            </a:r>
            <a:br/>
            <a:r>
              <a:rPr sz="1000">
                <a:latin typeface="Consolas"/>
              </a:rPr>
              <a:t>        )</a:t>
            </a:r>
            <a:br/>
            <a:r>
              <a:rPr sz="1000">
                <a:latin typeface="Consolas"/>
              </a:rPr>
              <a:t>        total += item['quantity'] * item.get('rate', 0)</a:t>
            </a:r>
            <a:br/>
            <a:r>
              <a:rPr sz="1000">
                <a:latin typeface="Consolas"/>
              </a:rPr>
              <a:t>        </a:t>
            </a:r>
            <a:br/>
            <a:r>
              <a:rPr sz="1000">
                <a:latin typeface="Consolas"/>
              </a:rPr>
              <a:t>        delta = item['quantity'] if item['type'] == 'Delivery' else -item.quantity</a:t>
            </a:r>
            <a:br/>
            <a:r>
              <a:rPr sz="1000">
                <a:latin typeface="Consolas"/>
              </a:rPr>
              <a:t>        update_inventory('customer', cust.id, item['equipment_id'], delta, user)</a:t>
            </a:r>
            <a:br/>
            <a:r>
              <a:rPr sz="1000">
                <a:latin typeface="Consolas"/>
              </a:rPr>
              <a:t>    </a:t>
            </a:r>
            <a:br/>
            <a:r>
              <a:rPr sz="1000">
                <a:latin typeface="Consolas"/>
              </a:rPr>
              <a:t>    trx.total_amount = total</a:t>
            </a:r>
            <a:br/>
            <a:r>
              <a:rPr sz="1000">
                <a:latin typeface="Consolas"/>
              </a:rPr>
              <a:t>    trx.save(update_fields=['total_amount'])</a:t>
            </a:r>
            <a:br/>
            <a:r>
              <a:rPr sz="1000">
                <a:latin typeface="Consolas"/>
              </a:rPr>
              <a:t>    </a:t>
            </a:r>
            <a:br/>
            <a:r>
              <a:rPr sz="1000">
                <a:latin typeface="Consolas"/>
              </a:rPr>
              <a:t>    inv = Invoice.objects.create(</a:t>
            </a:r>
            <a:br/>
            <a:r>
              <a:rPr sz="1000">
                <a:latin typeface="Consolas"/>
              </a:rPr>
              <a:t>        transaction=trx,</a:t>
            </a:r>
            <a:br/>
            <a:r>
              <a:rPr sz="1000">
                <a:latin typeface="Consolas"/>
              </a:rPr>
              <a:t>        invoice_number=generate_number('INV')</a:t>
            </a:r>
            <a:br/>
            <a:r>
              <a:rPr sz="1000">
                <a:latin typeface="Consolas"/>
              </a:rPr>
              <a:t>    )</a:t>
            </a:r>
            <a:br/>
            <a:r>
              <a:rPr sz="1000">
                <a:latin typeface="Consolas"/>
              </a:rPr>
              <a:t>    </a:t>
            </a:r>
            <a:br/>
            <a:r>
              <a:rPr sz="1000">
                <a:latin typeface="Consolas"/>
              </a:rPr>
              <a:t>    log_action(user, 'Create', 'Transaction', trx.id, data)</a:t>
            </a:r>
            <a:br/>
            <a:r>
              <a:rPr sz="1000">
                <a:latin typeface="Consolas"/>
              </a:rPr>
              <a:t>    return trx, inv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ViewSets – Thin &amp; Intent-Based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Delegate to services</a:t>
            </a:r>
          </a:p>
          <a:p>
            <a:r>
              <a:t>Explicit actions only (/confirm/) – no generic PUT/PATCH on confirmed records</a:t>
            </a:r>
          </a:p>
          <a:p>
            <a:r>
              <a:t>Driver sees own records only (get_queryset filter)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distribution/views.py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rPr sz="1000">
                <a:latin typeface="Consolas"/>
              </a:rPr>
              <a:t>class DistributionViewSet(viewsets.ModelViewSet):</a:t>
            </a:r>
            <a:br/>
            <a:r>
              <a:rPr sz="1000">
                <a:latin typeface="Consolas"/>
              </a:rPr>
              <a:t>    # ... queryset, serializer, permissions ...</a:t>
            </a:r>
            <a:br/>
            <a:r>
              <a:rPr sz="1000">
                <a:latin typeface="Consolas"/>
              </a:rPr>
              <a:t>    </a:t>
            </a:r>
            <a:br/>
            <a:r>
              <a:rPr sz="1000">
                <a:latin typeface="Consolas"/>
              </a:rPr>
              <a:t>    def create(self, request, *args, **kwargs):</a:t>
            </a:r>
            <a:br/>
            <a:r>
              <a:rPr sz="1000">
                <a:latin typeface="Consolas"/>
              </a:rPr>
              <a:t>        try:</a:t>
            </a:r>
            <a:br/>
            <a:r>
              <a:rPr sz="1000">
                <a:latin typeface="Consolas"/>
              </a:rPr>
              <a:t>            dist = create_distribution(...)</a:t>
            </a:r>
            <a:br/>
            <a:r>
              <a:rPr sz="1000">
                <a:latin typeface="Consolas"/>
              </a:rPr>
              <a:t>            return Response(DistributionSerializer(dist).data, status=201)</a:t>
            </a:r>
            <a:br/>
            <a:r>
              <a:rPr sz="1000">
                <a:latin typeface="Consolas"/>
              </a:rPr>
              <a:t>        except Exception as e:</a:t>
            </a:r>
            <a:br/>
            <a:r>
              <a:rPr sz="1000">
                <a:latin typeface="Consolas"/>
              </a:rPr>
              <a:t>            return Response({"detail": str(e)}, status=400)</a:t>
            </a:r>
            <a:br/>
            <a:r>
              <a:rPr sz="1000">
                <a:latin typeface="Consolas"/>
              </a:rPr>
              <a:t>    </a:t>
            </a:r>
            <a:br/>
            <a:r>
              <a:rPr sz="1000">
                <a:latin typeface="Consolas"/>
              </a:rPr>
              <a:t>    @action(detail=True, methods=['post'], url_path='confirm')</a:t>
            </a:r>
            <a:br/>
            <a:r>
              <a:rPr sz="1000">
                <a:latin typeface="Consolas"/>
              </a:rPr>
              <a:t>    def confirm(self, request, pk=None):</a:t>
            </a:r>
            <a:br/>
            <a:r>
              <a:rPr sz="1000">
                <a:latin typeface="Consolas"/>
              </a:rPr>
              <a:t>        try:</a:t>
            </a:r>
            <a:br/>
            <a:r>
              <a:rPr sz="1000">
                <a:latin typeface="Consolas"/>
              </a:rPr>
              <a:t>            dist = confirm_distribution(pk, request.user)</a:t>
            </a:r>
            <a:br/>
            <a:r>
              <a:rPr sz="1000">
                <a:latin typeface="Consolas"/>
              </a:rPr>
              <a:t>            return Response(DistributionSerializer(dist).data)</a:t>
            </a:r>
            <a:br/>
            <a:r>
              <a:rPr sz="1000">
                <a:latin typeface="Consolas"/>
              </a:rPr>
              <a:t>        except ValueError as ve:</a:t>
            </a:r>
            <a:br/>
            <a:r>
              <a:rPr sz="1000">
                <a:latin typeface="Consolas"/>
              </a:rPr>
              <a:t>            return Response({"detail": str(ve)}, status=409)</a:t>
            </a:r>
            <a:br/>
            <a:r>
              <a:rPr sz="1000">
                <a:latin typeface="Consolas"/>
              </a:rPr>
              <a:t>        except Exception as e:</a:t>
            </a:r>
            <a:br/>
            <a:r>
              <a:rPr sz="1000">
                <a:latin typeface="Consolas"/>
              </a:rPr>
              <a:t>            return Response({"detail": str(e)}, status=400)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inventory/views.py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rPr sz="1000">
                <a:latin typeface="Consolas"/>
              </a:rPr>
              <a:t>class InventoryViewSet(viewsets.GenericViewSet):</a:t>
            </a:r>
            <a:br/>
            <a:r>
              <a:rPr sz="1000">
                <a:latin typeface="Consolas"/>
              </a:rPr>
              <a:t>    @action(detail=False, methods=['post'], url_path='update')</a:t>
            </a:r>
            <a:br/>
            <a:r>
              <a:rPr sz="1000">
                <a:latin typeface="Consolas"/>
              </a:rPr>
              <a:t>    def adjust(self, request):</a:t>
            </a:r>
            <a:br/>
            <a:r>
              <a:rPr sz="1000">
                <a:latin typeface="Consolas"/>
              </a:rPr>
              <a:t>        try:</a:t>
            </a:r>
            <a:br/>
            <a:r>
              <a:rPr sz="1000">
                <a:latin typeface="Consolas"/>
              </a:rPr>
              <a:t>            inv = update_inventory(...)</a:t>
            </a:r>
            <a:br/>
            <a:r>
              <a:rPr sz="1000">
                <a:latin typeface="Consolas"/>
              </a:rPr>
              <a:t>            return Response(CustomerSiteInventorySerializer(inv).data)</a:t>
            </a:r>
            <a:br/>
            <a:r>
              <a:rPr sz="1000">
                <a:latin typeface="Consolas"/>
              </a:rPr>
              <a:t>        except Exception as e:</a:t>
            </a:r>
            <a:br/>
            <a:r>
              <a:rPr sz="1000">
                <a:latin typeface="Consolas"/>
              </a:rPr>
              <a:t>            return Response({"detail": str(e)}, status=400)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Router Setup (urls.py)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rPr sz="1000">
                <a:latin typeface="Consolas"/>
              </a:rPr>
              <a:t>router = DefaultRouter()</a:t>
            </a:r>
            <a:br/>
            <a:r>
              <a:rPr sz="1000">
                <a:latin typeface="Consolas"/>
              </a:rPr>
              <a:t>router.register(r'distributions', DistributionViewSet)</a:t>
            </a:r>
            <a:br/>
            <a:r>
              <a:rPr sz="1000">
                <a:latin typeface="Consolas"/>
              </a:rPr>
              <a:t>router.register(r'inventories', InventoryViewSet)</a:t>
            </a:r>
            <a:br/>
            <a:r>
              <a:rPr sz="1000">
                <a:latin typeface="Consolas"/>
              </a:rPr>
              <a:t># ...</a:t>
            </a:r>
            <a:br/>
            <a:br/>
            <a:r>
              <a:rPr sz="1000">
                <a:latin typeface="Consolas"/>
              </a:rPr>
              <a:t>urlpatterns = [path('api/', include(router.urls))]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Middleware – Logging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rPr sz="1000">
                <a:latin typeface="Consolas"/>
              </a:rPr>
              <a:t>class APILoggingMiddleware:</a:t>
            </a:r>
            <a:br/>
            <a:r>
              <a:rPr sz="1000">
                <a:latin typeface="Consolas"/>
              </a:rPr>
              <a:t>    def __call__(self, request):</a:t>
            </a:r>
            <a:br/>
            <a:r>
              <a:rPr sz="1000">
                <a:latin typeface="Consolas"/>
              </a:rPr>
              <a:t>        # ... measure duration, log method/path/user/duration/IP ...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 – 2-Month Sprint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Prioritize: Distribution → Inventory → basic Transaction</a:t>
            </a:r>
          </a:p>
          <a:p>
            <a:r>
              <a:t>Defer: PDF generation, email, QuickBooks</a:t>
            </a:r>
          </a:p>
          <a:p>
            <a:r>
              <a:t>Atomic + audit on every critical path</a:t>
            </a:r>
          </a:p>
          <a:p>
            <a:r>
              <a:t>Test: concurrent confirms, offline sync replay</a:t>
            </a:r>
          </a:p>
          <a:p>
            <a:r>
              <a:t>Thin views → thick services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t>Questions?</a:t>
            </a:r>
          </a:p>
          <a:p>
            <a:endParaRPr/>
          </a:p>
          <a:p>
            <a:r>
              <a:t>Sean | Hock Soon Heng LPG Pte Ltd | Singapore | Jan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3273</Words>
  <Application>Microsoft Office PowerPoint</Application>
  <PresentationFormat>On-screen Show (4:3)</PresentationFormat>
  <Paragraphs>149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Consolas</vt:lpstr>
      <vt:lpstr>Office Theme</vt:lpstr>
      <vt:lpstr>HSH LPG Sales &amp; Logistics System</vt:lpstr>
      <vt:lpstr>Presentation Agenda</vt:lpstr>
      <vt:lpstr>Core Philosophy – Triangle of Constraints</vt:lpstr>
      <vt:lpstr>Project Structure Overview</vt:lpstr>
      <vt:lpstr>Technology Stack (2026)</vt:lpstr>
      <vt:lpstr>5-Minute Local Setup</vt:lpstr>
      <vt:lpstr>Core Configuration – settings.py</vt:lpstr>
      <vt:lpstr>Models – Logistics vs Sales Separation</vt:lpstr>
      <vt:lpstr>Key Model: User (Custom Auth Base)</vt:lpstr>
      <vt:lpstr>Key Model: Depot</vt:lpstr>
      <vt:lpstr>Key Model: Equipment</vt:lpstr>
      <vt:lpstr>Inventory Models</vt:lpstr>
      <vt:lpstr>Distribution Models</vt:lpstr>
      <vt:lpstr>Customer Model</vt:lpstr>
      <vt:lpstr>Transaction Models</vt:lpstr>
      <vt:lpstr>Invoice Model</vt:lpstr>
      <vt:lpstr>AuditLog Model</vt:lpstr>
      <vt:lpstr>Services Layer – The Core Engine</vt:lpstr>
      <vt:lpstr>utils.py – Number Generation</vt:lpstr>
      <vt:lpstr>audit/services.py</vt:lpstr>
      <vt:lpstr>distribution/services.py – create_distribution</vt:lpstr>
      <vt:lpstr>distribution/services.py – confirm_distribution</vt:lpstr>
      <vt:lpstr>inventory/services.py</vt:lpstr>
      <vt:lpstr>transactions/services.py</vt:lpstr>
      <vt:lpstr>ViewSets – Thin &amp; Intent-Based</vt:lpstr>
      <vt:lpstr>distribution/views.py</vt:lpstr>
      <vt:lpstr>inventory/views.py</vt:lpstr>
      <vt:lpstr>Router Setup (urls.py)</vt:lpstr>
      <vt:lpstr>Middleware – Logging</vt:lpstr>
      <vt:lpstr>Key Takeaways – 2-Month Sprint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Sean</cp:lastModifiedBy>
  <cp:revision>6</cp:revision>
  <dcterms:created xsi:type="dcterms:W3CDTF">2013-01-27T09:14:16Z</dcterms:created>
  <dcterms:modified xsi:type="dcterms:W3CDTF">2026-01-21T06:45:32Z</dcterms:modified>
  <cp:category/>
</cp:coreProperties>
</file>