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11811-5075-4827-A8C8-45B5A0C1414D}" type="datetimeFigureOut">
              <a:rPr lang="en-SG" smtClean="0"/>
              <a:t>21/1/2026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0063A7-A7EC-4285-820C-E6F7F8FBA98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65602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The backend is the guardian of physical inventory and financial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Enforces security, ACID integrity, and frontend connectivity.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HSH LPG Sales &amp; Logistics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C8C8C8"/>
                </a:solidFill>
              </a:rPr>
              <a:t>Django 6 + DRF Backend – Full Code Walkthrough</a:t>
            </a:r>
          </a:p>
          <a:p>
            <a:r>
              <a:rPr sz="2000">
                <a:solidFill>
                  <a:srgbClr val="C8C8C8"/>
                </a:solidFill>
              </a:rPr>
              <a:t>Field-First • Transactionally Strict • Audit-Obsessed</a:t>
            </a:r>
          </a:p>
          <a:p>
            <a:r>
              <a:rPr sz="2000">
                <a:solidFill>
                  <a:srgbClr val="C8C8C8"/>
                </a:solidFill>
              </a:rPr>
              <a:t>Singapore Field Operations –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Project Overview &amp; Philosophy</a:t>
            </a:r>
          </a:p>
          <a:p>
            <a:r>
              <a:rPr dirty="0"/>
              <a:t>Technology Stack &amp; Setup</a:t>
            </a:r>
          </a:p>
          <a:p>
            <a:r>
              <a:rPr dirty="0"/>
              <a:t>Project Structure</a:t>
            </a:r>
          </a:p>
          <a:p>
            <a:r>
              <a:rPr dirty="0"/>
              <a:t>Core Configuration (settings.py)</a:t>
            </a:r>
          </a:p>
          <a:p>
            <a:r>
              <a:rPr dirty="0"/>
              <a:t>Data Models – The Foundation</a:t>
            </a:r>
          </a:p>
          <a:p>
            <a:r>
              <a:rPr dirty="0"/>
              <a:t>Services Layer – Business Logic Core</a:t>
            </a:r>
          </a:p>
          <a:p>
            <a:r>
              <a:rPr dirty="0" err="1"/>
              <a:t>ViewSets</a:t>
            </a:r>
            <a:r>
              <a:rPr dirty="0"/>
              <a:t> &amp; API Layer</a:t>
            </a:r>
          </a:p>
          <a:p>
            <a:r>
              <a:rPr dirty="0"/>
              <a:t>Middleware &amp; Logging</a:t>
            </a:r>
          </a:p>
          <a:p>
            <a:r>
              <a:rPr dirty="0"/>
              <a:t>Key Workflows &amp; Offline Sync</a:t>
            </a:r>
          </a:p>
          <a:p>
            <a:r>
              <a:rPr dirty="0"/>
              <a:t>Takeaways for 2-Month Sprint</a:t>
            </a:r>
          </a:p>
          <a:p>
            <a:r>
              <a:rPr dirty="0"/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Philosophy – Triangle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Field-First Operation → offline queue + client_temp_id sync</a:t>
            </a:r>
          </a:p>
          <a:p>
            <a:r>
              <a:t>Transactional Integrity → @transaction.atomic + row locks</a:t>
            </a:r>
          </a:p>
          <a:p>
            <a:r>
              <a:t>Zero-Trust Traceability → immutable audit log on every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Structure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6829" y="1524000"/>
            <a:ext cx="8708571" cy="4876799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 algn="l">
              <a:buNone/>
              <a:defRPr sz="1000">
                <a:latin typeface="Consolas"/>
              </a:defRPr>
            </a:pPr>
            <a:r>
              <a:rPr sz="2000" dirty="0" err="1"/>
              <a:t>hsh_lpg_system</a:t>
            </a:r>
            <a:r>
              <a:rPr sz="2000" dirty="0"/>
              <a:t>/</a:t>
            </a:r>
            <a:br>
              <a:rPr sz="2000" dirty="0"/>
            </a:br>
            <a:r>
              <a:rPr sz="2000" dirty="0"/>
              <a:t>├── core/                  # settings &amp; </a:t>
            </a:r>
            <a:r>
              <a:rPr sz="2000" dirty="0" err="1"/>
              <a:t>urls</a:t>
            </a:r>
            <a:br>
              <a:rPr sz="2000" dirty="0"/>
            </a:br>
            <a:r>
              <a:rPr sz="2000" dirty="0"/>
              <a:t>├── accounts/              # User + auth</a:t>
            </a:r>
            <a:br>
              <a:rPr sz="2000" dirty="0"/>
            </a:br>
            <a:r>
              <a:rPr sz="2000" dirty="0"/>
              <a:t>├── depots/                # SINGGAS, UNION…</a:t>
            </a:r>
            <a:br>
              <a:rPr sz="2000" dirty="0"/>
            </a:br>
            <a:r>
              <a:rPr sz="2000" dirty="0"/>
              <a:t>├── equipment/             # CYL 12.7 kg…</a:t>
            </a:r>
            <a:br>
              <a:rPr sz="2000" dirty="0"/>
            </a:br>
            <a:r>
              <a:rPr sz="2000" dirty="0"/>
              <a:t>├── inventory/             # Depot &amp; Customer stock</a:t>
            </a:r>
            <a:br>
              <a:rPr sz="2000" dirty="0"/>
            </a:br>
            <a:r>
              <a:rPr sz="2000" dirty="0"/>
              <a:t>├── distribution/          # Logistics (Depot ↔ Truck)</a:t>
            </a:r>
            <a:br>
              <a:rPr sz="2000" dirty="0"/>
            </a:br>
            <a:r>
              <a:rPr sz="2000" dirty="0"/>
              <a:t>├── customers/             # Customer master + rates</a:t>
            </a:r>
            <a:br>
              <a:rPr sz="2000" dirty="0"/>
            </a:br>
            <a:r>
              <a:rPr sz="2000" dirty="0"/>
              <a:t>├── transactions/          # Sales &amp; billing</a:t>
            </a:r>
            <a:br>
              <a:rPr sz="2000" dirty="0"/>
            </a:br>
            <a:r>
              <a:rPr sz="2000" dirty="0"/>
              <a:t>├── invoices/              # Invoice records (PDF Phase 2)</a:t>
            </a:r>
            <a:br>
              <a:rPr sz="2000" dirty="0"/>
            </a:br>
            <a:r>
              <a:rPr sz="2000" dirty="0"/>
              <a:t>├── audit/                 # Immutable logs</a:t>
            </a:r>
            <a:br>
              <a:rPr sz="2000" dirty="0"/>
            </a:br>
            <a:r>
              <a:rPr sz="2000" dirty="0"/>
              <a:t>├── middleware/            # Request logging</a:t>
            </a:r>
            <a:br>
              <a:rPr sz="2000" dirty="0"/>
            </a:br>
            <a:r>
              <a:rPr sz="2000" dirty="0"/>
              <a:t>├── utils/                 # Helpers</a:t>
            </a:r>
            <a:br>
              <a:rPr sz="2000" dirty="0"/>
            </a:br>
            <a:r>
              <a:rPr sz="2000" dirty="0"/>
              <a:t>├── manage.py / requirements.txt / .env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Python 3.12</a:t>
            </a:r>
          </a:p>
          <a:p>
            <a:r>
              <a:rPr dirty="0"/>
              <a:t>Django 6 (LTS)</a:t>
            </a:r>
          </a:p>
          <a:p>
            <a:r>
              <a:rPr dirty="0"/>
              <a:t>DRF 3.15+</a:t>
            </a:r>
          </a:p>
          <a:p>
            <a:r>
              <a:rPr dirty="0" err="1"/>
              <a:t>drf</a:t>
            </a:r>
            <a:r>
              <a:rPr dirty="0"/>
              <a:t>-spectacular (Swagger)</a:t>
            </a:r>
          </a:p>
          <a:p>
            <a:r>
              <a:rPr dirty="0"/>
              <a:t>Simple JWT (stateless auth)</a:t>
            </a:r>
          </a:p>
          <a:p>
            <a:r>
              <a:rPr dirty="0"/>
              <a:t>MySQL 8 (prod) / SQLite (dev)</a:t>
            </a:r>
          </a:p>
          <a:p>
            <a:r>
              <a:rPr dirty="0" err="1"/>
              <a:t>WeasyPrint</a:t>
            </a:r>
            <a:r>
              <a:rPr dirty="0"/>
              <a:t> (PDF) + SMTP (email)</a:t>
            </a:r>
          </a:p>
          <a:p>
            <a:r>
              <a:rPr dirty="0" err="1"/>
              <a:t>django</a:t>
            </a:r>
            <a:r>
              <a:rPr dirty="0"/>
              <a:t>-</a:t>
            </a:r>
            <a:r>
              <a:rPr dirty="0" err="1"/>
              <a:t>cors</a:t>
            </a:r>
            <a:r>
              <a:rPr dirty="0"/>
              <a:t>-headers (React frontend)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5-Minute Local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47314" cy="4525963"/>
          </a:xfrm>
        </p:spPr>
        <p:txBody>
          <a:bodyPr>
            <a:normAutofit/>
          </a:bodyPr>
          <a:lstStyle/>
          <a:p>
            <a:r>
              <a:rPr dirty="0"/>
              <a:t>1. pip install -r requirements.txt</a:t>
            </a:r>
          </a:p>
          <a:p>
            <a:r>
              <a:rPr dirty="0"/>
              <a:t>2. Configure .env (SECRET_KEY, DB_ENGINE, EMAIL…)</a:t>
            </a:r>
          </a:p>
          <a:p>
            <a:r>
              <a:rPr dirty="0"/>
              <a:t>3. python manage.py </a:t>
            </a:r>
            <a:r>
              <a:rPr dirty="0" err="1"/>
              <a:t>makemigrations</a:t>
            </a:r>
            <a:r>
              <a:rPr dirty="0"/>
              <a:t> &amp;&amp; migrate</a:t>
            </a:r>
          </a:p>
          <a:p>
            <a:r>
              <a:rPr dirty="0"/>
              <a:t>4. python manage.py </a:t>
            </a:r>
            <a:r>
              <a:rPr dirty="0" err="1"/>
              <a:t>runserver</a:t>
            </a:r>
            <a:endParaRPr dirty="0"/>
          </a:p>
          <a:p>
            <a:r>
              <a:rPr dirty="0"/>
              <a:t>5. Swagger → http://127.0.0.1:8000/api/schema/swagger-ui/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Configuration – settings.py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AUTH_USER_MODEL = 'accounts.User'</a:t>
            </a:r>
          </a:p>
          <a:p>
            <a:r>
              <a:t>JWT: 8h access / 7d refresh</a:t>
            </a:r>
          </a:p>
          <a:p>
            <a:r>
              <a:t>Conditional MySQL / SQLite</a:t>
            </a:r>
          </a:p>
          <a:p>
            <a:r>
              <a:t>CORS + custom logging middleware</a:t>
            </a:r>
          </a:p>
          <a:p>
            <a:r>
              <a:t>drf-spectacular for auto Swagger 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– Logistics vs Sales Separation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Logistics (Distribution): No customer, updates DepotInventory</a:t>
            </a:r>
          </a:p>
          <a:p>
            <a:r>
              <a:t>Sales (Transaction): Customer-linked, triggers Invoice, updates CustomerSiteInventory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Model: User (Custom Auth Base)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endParaRPr sz="6000" dirty="0"/>
          </a:p>
          <a:p>
            <a:pPr marL="0" indent="0" algn="l">
              <a:buNone/>
              <a:defRPr sz="1000">
                <a:latin typeface="Consolas"/>
              </a:defRPr>
            </a:pPr>
            <a:r>
              <a:rPr sz="1800" dirty="0"/>
              <a:t>class User(</a:t>
            </a:r>
            <a:r>
              <a:rPr sz="1800" dirty="0" err="1"/>
              <a:t>AbstractUser</a:t>
            </a:r>
            <a:r>
              <a:rPr sz="1800" dirty="0"/>
              <a:t>):</a:t>
            </a:r>
            <a:br>
              <a:rPr sz="1800" dirty="0"/>
            </a:br>
            <a:r>
              <a:rPr sz="1800" dirty="0"/>
              <a:t>    ROLE_CHOICES = (('ADMIN', 'Admin'), ('DRIVER', 'Driver'), ('SUPERVISOR', 'Supervisor'))</a:t>
            </a:r>
            <a:br>
              <a:rPr sz="1800" dirty="0"/>
            </a:br>
            <a:r>
              <a:rPr sz="1800" dirty="0"/>
              <a:t>    </a:t>
            </a:r>
            <a:r>
              <a:rPr sz="1800" dirty="0" err="1"/>
              <a:t>employee_id</a:t>
            </a:r>
            <a:r>
              <a:rPr sz="1800" dirty="0"/>
              <a:t> = </a:t>
            </a:r>
            <a:r>
              <a:rPr sz="1800" dirty="0" err="1"/>
              <a:t>models.CharField</a:t>
            </a:r>
            <a:r>
              <a:rPr sz="1800" dirty="0"/>
              <a:t>(</a:t>
            </a:r>
            <a:r>
              <a:rPr sz="1800" dirty="0" err="1"/>
              <a:t>max_length</a:t>
            </a:r>
            <a:r>
              <a:rPr sz="1800" dirty="0"/>
              <a:t>=50, unique=True)</a:t>
            </a:r>
            <a:br>
              <a:rPr sz="1800" dirty="0"/>
            </a:br>
            <a:r>
              <a:rPr sz="1800" dirty="0"/>
              <a:t>    role = </a:t>
            </a:r>
            <a:r>
              <a:rPr sz="1800" dirty="0" err="1"/>
              <a:t>models.CharField</a:t>
            </a:r>
            <a:r>
              <a:rPr sz="1800" dirty="0"/>
              <a:t>(</a:t>
            </a:r>
            <a:r>
              <a:rPr sz="1800" dirty="0" err="1"/>
              <a:t>max_length</a:t>
            </a:r>
            <a:r>
              <a:rPr sz="1800" dirty="0"/>
              <a:t>=20, choices=ROLE_CHOICES)</a:t>
            </a:r>
            <a:br>
              <a:rPr sz="1800" dirty="0"/>
            </a:br>
            <a:r>
              <a:rPr sz="1800" dirty="0"/>
              <a:t>    </a:t>
            </a:r>
            <a:r>
              <a:rPr sz="1800" dirty="0" err="1"/>
              <a:t>vehicle_no</a:t>
            </a:r>
            <a:r>
              <a:rPr sz="1800" dirty="0"/>
              <a:t> = </a:t>
            </a:r>
            <a:r>
              <a:rPr sz="1800" dirty="0" err="1"/>
              <a:t>models.CharField</a:t>
            </a:r>
            <a:r>
              <a:rPr sz="1800" dirty="0"/>
              <a:t>(</a:t>
            </a:r>
            <a:r>
              <a:rPr sz="1800" dirty="0" err="1"/>
              <a:t>max_length</a:t>
            </a:r>
            <a:r>
              <a:rPr sz="1800" dirty="0"/>
              <a:t>=20, blank=True)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Services Layer – Where Reality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All mutations are atomic</a:t>
            </a:r>
          </a:p>
          <a:p>
            <a:r>
              <a:t>Audit log on every write</a:t>
            </a:r>
          </a:p>
          <a:p>
            <a:r>
              <a:t>Offline support (client_temp_id)</a:t>
            </a:r>
          </a:p>
          <a:p>
            <a:r>
              <a:t>No direct model manipulation outside services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Example: Atomic confirm_distribution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endParaRPr sz="6000" dirty="0"/>
          </a:p>
          <a:p>
            <a:pPr marL="0" indent="0" algn="l">
              <a:buNone/>
              <a:defRPr sz="1000">
                <a:latin typeface="Consolas"/>
              </a:defRPr>
            </a:pPr>
            <a:r>
              <a:rPr sz="1800" dirty="0"/>
              <a:t>@transaction.atomic</a:t>
            </a:r>
            <a:br>
              <a:rPr sz="1800" dirty="0"/>
            </a:br>
            <a:r>
              <a:rPr sz="1800" dirty="0"/>
              <a:t>def </a:t>
            </a:r>
            <a:r>
              <a:rPr sz="1800" dirty="0" err="1"/>
              <a:t>confirm_distribution</a:t>
            </a:r>
            <a:r>
              <a:rPr sz="1800" dirty="0"/>
              <a:t>(</a:t>
            </a:r>
            <a:r>
              <a:rPr sz="1800" dirty="0" err="1"/>
              <a:t>distribution_id</a:t>
            </a:r>
            <a:r>
              <a:rPr sz="1800" dirty="0"/>
              <a:t>: int, user):</a:t>
            </a:r>
            <a:br>
              <a:rPr sz="1800" dirty="0"/>
            </a:br>
            <a:r>
              <a:rPr sz="1800" dirty="0"/>
              <a:t>    </a:t>
            </a:r>
            <a:r>
              <a:rPr sz="1800" dirty="0" err="1"/>
              <a:t>dist</a:t>
            </a:r>
            <a:r>
              <a:rPr sz="1800" dirty="0"/>
              <a:t> = </a:t>
            </a:r>
            <a:r>
              <a:rPr sz="1800" dirty="0" err="1"/>
              <a:t>Distribution.objects.select_for_update</a:t>
            </a:r>
            <a:r>
              <a:rPr sz="1800" dirty="0"/>
              <a:t>()</a:t>
            </a:r>
            <a:endParaRPr lang="en-SG" sz="1800" dirty="0"/>
          </a:p>
          <a:p>
            <a:pPr marL="0" indent="0" algn="l">
              <a:buNone/>
              <a:defRPr sz="1000">
                <a:latin typeface="Consolas"/>
              </a:defRPr>
            </a:pPr>
            <a:r>
              <a:rPr sz="1800" dirty="0"/>
              <a:t>.get(id=</a:t>
            </a:r>
            <a:r>
              <a:rPr sz="1800" dirty="0" err="1"/>
              <a:t>distribution_id</a:t>
            </a:r>
            <a:r>
              <a:rPr sz="1800" dirty="0"/>
              <a:t>)</a:t>
            </a:r>
            <a:br>
              <a:rPr sz="1800" dirty="0"/>
            </a:br>
            <a:r>
              <a:rPr sz="1800" dirty="0"/>
              <a:t>    if </a:t>
            </a:r>
            <a:r>
              <a:rPr sz="1800" dirty="0" err="1"/>
              <a:t>dist.status</a:t>
            </a:r>
            <a:r>
              <a:rPr sz="1800" dirty="0"/>
              <a:t> == 'Confirmed':</a:t>
            </a:r>
            <a:br>
              <a:rPr sz="1800" dirty="0"/>
            </a:br>
            <a:r>
              <a:rPr sz="1800" dirty="0"/>
              <a:t>        raise </a:t>
            </a:r>
            <a:r>
              <a:rPr sz="1800" dirty="0" err="1"/>
              <a:t>ValueError</a:t>
            </a:r>
            <a:r>
              <a:rPr sz="1800" dirty="0"/>
              <a:t>("Already confirmed")</a:t>
            </a:r>
            <a:br>
              <a:rPr sz="1800" dirty="0"/>
            </a:br>
            <a:r>
              <a:rPr sz="1800" dirty="0"/>
              <a:t>    # ... update status, stock deltas, </a:t>
            </a:r>
            <a:r>
              <a:rPr sz="1800" dirty="0" err="1"/>
              <a:t>log_action</a:t>
            </a:r>
            <a:r>
              <a:rPr sz="1800" dirty="0"/>
              <a:t> 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ViewSets – Thin &amp; Intent-Based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Delegate to services</a:t>
            </a:r>
          </a:p>
          <a:p>
            <a:r>
              <a:t>Explicit actions only (/confirm/) – no generic PUT/PATCH on confirmed records</a:t>
            </a:r>
          </a:p>
          <a:p>
            <a:r>
              <a:t>Driver sees own records only (get_queryset filter)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Middleware – Built-in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endParaRPr sz="7200" dirty="0"/>
          </a:p>
          <a:p>
            <a:pPr marL="0" indent="0" algn="l">
              <a:buNone/>
              <a:defRPr sz="1000">
                <a:latin typeface="Consolas"/>
              </a:defRPr>
            </a:pPr>
            <a:r>
              <a:rPr sz="2400" dirty="0"/>
              <a:t>class </a:t>
            </a:r>
            <a:r>
              <a:rPr sz="2400" dirty="0" err="1"/>
              <a:t>APILoggingMiddleware</a:t>
            </a:r>
            <a:r>
              <a:rPr sz="2400" dirty="0"/>
              <a:t>:</a:t>
            </a:r>
            <a:br>
              <a:rPr sz="2400" dirty="0"/>
            </a:br>
            <a:r>
              <a:rPr sz="2400" dirty="0"/>
              <a:t>    def __call__(self, request):</a:t>
            </a:r>
            <a:br>
              <a:rPr sz="2400" dirty="0"/>
            </a:br>
            <a:r>
              <a:rPr sz="2400" dirty="0"/>
              <a:t>        # log method, path, user, duration, 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 &amp; Sprint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Prioritize: Distribution → Inventory → basic Transaction</a:t>
            </a:r>
          </a:p>
          <a:p>
            <a:r>
              <a:t>Defer: PDF generation, email, QuickBooks</a:t>
            </a:r>
          </a:p>
          <a:p>
            <a:r>
              <a:t>Atomic + audit on every critical path</a:t>
            </a:r>
          </a:p>
          <a:p>
            <a:r>
              <a:t>Test: concurrent confirms, offline sync replay</a:t>
            </a:r>
          </a:p>
          <a:p>
            <a:r>
              <a:t>Thin views → thick services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C8C8C8"/>
                </a:solidFill>
              </a:rPr>
              <a:t>Questions?</a:t>
            </a:r>
          </a:p>
          <a:p>
            <a:endParaRPr sz="2000">
              <a:solidFill>
                <a:srgbClr val="C8C8C8"/>
              </a:solidFill>
            </a:endParaRPr>
          </a:p>
          <a:p>
            <a:r>
              <a:rPr sz="2000">
                <a:solidFill>
                  <a:srgbClr val="C8C8C8"/>
                </a:solidFill>
              </a:rPr>
              <a:t>Sean | Hock Soon Heng LPG Pte Ltd | Singapore | Jan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754</Words>
  <Application>Microsoft Office PowerPoint</Application>
  <PresentationFormat>On-screen Show (4:3)</PresentationFormat>
  <Paragraphs>85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HSH LPG Sales &amp; Logistics System</vt:lpstr>
      <vt:lpstr>Presentation Agenda</vt:lpstr>
      <vt:lpstr>Core Philosophy – Triangle of Constraints</vt:lpstr>
      <vt:lpstr>Project Structure Overview</vt:lpstr>
      <vt:lpstr>Technology Stack (2026)</vt:lpstr>
      <vt:lpstr>5-Minute Local Setup</vt:lpstr>
      <vt:lpstr>Core Configuration – settings.py</vt:lpstr>
      <vt:lpstr>Models – Logistics vs Sales Separation</vt:lpstr>
      <vt:lpstr>Key Model: User (Custom Auth Base)</vt:lpstr>
      <vt:lpstr>Services Layer – Where Reality Changes</vt:lpstr>
      <vt:lpstr>Example: Atomic confirm_distribution</vt:lpstr>
      <vt:lpstr>ViewSets – Thin &amp; Intent-Based</vt:lpstr>
      <vt:lpstr>Middleware – Built-in Observability</vt:lpstr>
      <vt:lpstr>Key Takeaways &amp; Sprint Focus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Sean</cp:lastModifiedBy>
  <cp:revision>4</cp:revision>
  <dcterms:created xsi:type="dcterms:W3CDTF">2013-01-27T09:14:16Z</dcterms:created>
  <dcterms:modified xsi:type="dcterms:W3CDTF">2026-01-21T01:14:47Z</dcterms:modified>
  <cp:category/>
</cp:coreProperties>
</file>